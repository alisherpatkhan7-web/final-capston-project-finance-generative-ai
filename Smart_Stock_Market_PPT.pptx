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5" r:id="rId4"/>
  </p:sldMasterIdLst>
  <p:notesMasterIdLst>
    <p:notesMasterId r:id="rId12"/>
  </p:notesMasterIdLst>
  <p:sldIdLst>
    <p:sldId id="292" r:id="rId5"/>
    <p:sldId id="1291" r:id="rId6"/>
    <p:sldId id="1292" r:id="rId7"/>
    <p:sldId id="1294" r:id="rId8"/>
    <p:sldId id="1293" r:id="rId9"/>
    <p:sldId id="1296" r:id="rId10"/>
    <p:sldId id="1250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8" userDrawn="1">
          <p15:clr>
            <a:srgbClr val="A4A3A4"/>
          </p15:clr>
        </p15:guide>
        <p15:guide id="2" pos="144" userDrawn="1">
          <p15:clr>
            <a:srgbClr val="A4A3A4"/>
          </p15:clr>
        </p15:guide>
        <p15:guide id="3" orient="horz" pos="852" userDrawn="1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xmlns="" r:id="rId220" roundtripDataSignature="AMtx7miWNY2LB4ETJwrL8F0N+EK9hEh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7C73"/>
    <a:srgbClr val="E8ECF8"/>
    <a:srgbClr val="EF6331"/>
    <a:srgbClr val="223366"/>
    <a:srgbClr val="00717D"/>
    <a:srgbClr val="C9D2ED"/>
    <a:srgbClr val="851910"/>
    <a:srgbClr val="0000FF"/>
    <a:srgbClr val="FFCD8C"/>
    <a:srgbClr val="9F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556316-1B04-6F9D-CF52-94D116DA4A80}" v="44" dt="2026-04-10T08:17:05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680" y="48"/>
      </p:cViewPr>
      <p:guideLst>
        <p:guide orient="horz" pos="588"/>
        <p:guide pos="144"/>
        <p:guide orient="horz" pos="8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22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2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20" Type="http://customschemas.google.com/relationships/presentationmetadata" Target="metadata"/><Relationship Id="rId225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22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2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802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b="1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/>
              </a:rPr>
              <a:t>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6936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089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825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2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239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2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>
                <a:solidFill>
                  <a:srgbClr val="223366"/>
                </a:solidFill>
              </a:rPr>
              <a:t>Thank You !!</a:t>
            </a:r>
            <a:endParaRPr lang="en-US" sz="1100" b="1" spc="-5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420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878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1877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EBA23-5FDD-5D7E-F6FC-E4A6A7F5FD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DBF0E-B651-D205-69BC-E38929484D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EAFE9-FEB4-90FA-7604-E71268E9BE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757799B1-BD81-4C27-AC39-14752E0AA9C5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42C0C-D784-7894-6E7A-A3163E7BD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E244B-37C0-9DC6-22CD-EB660918F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/>
          <a:lstStyle/>
          <a:p>
            <a:fld id="{46D0F184-99CC-4BD8-B5C7-8D3F468855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516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8B4DC1-1FB6-97A3-9F51-B9358500E0A8}"/>
              </a:ext>
            </a:extLst>
          </p:cNvPr>
          <p:cNvSpPr/>
          <p:nvPr userDrawn="1"/>
        </p:nvSpPr>
        <p:spPr>
          <a:xfrm>
            <a:off x="0" y="454356"/>
            <a:ext cx="9144000" cy="45719"/>
          </a:xfrm>
          <a:prstGeom prst="rect">
            <a:avLst/>
          </a:prstGeom>
          <a:solidFill>
            <a:srgbClr val="EF63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7B0C45-392E-206A-6503-A52CA087AB64}"/>
              </a:ext>
            </a:extLst>
          </p:cNvPr>
          <p:cNvSpPr/>
          <p:nvPr userDrawn="1"/>
        </p:nvSpPr>
        <p:spPr>
          <a:xfrm>
            <a:off x="0" y="2445"/>
            <a:ext cx="9144000" cy="467289"/>
          </a:xfrm>
          <a:prstGeom prst="rect">
            <a:avLst/>
          </a:prstGeom>
          <a:solidFill>
            <a:srgbClr val="E8ECF8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Google Shape;110;p4" descr="A close up of a sign&#10;&#10;Description automatically generated">
            <a:extLst>
              <a:ext uri="{FF2B5EF4-FFF2-40B4-BE49-F238E27FC236}">
                <a16:creationId xmlns:a16="http://schemas.microsoft.com/office/drawing/2014/main" id="{CE849A3B-BCF0-B774-F89E-81965C71F93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7717638" y="48027"/>
            <a:ext cx="1125129" cy="3761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1E902BD-DE18-50F7-2A75-FEB6FA54A56F}"/>
              </a:ext>
            </a:extLst>
          </p:cNvPr>
          <p:cNvSpPr/>
          <p:nvPr userDrawn="1"/>
        </p:nvSpPr>
        <p:spPr>
          <a:xfrm>
            <a:off x="0" y="5097781"/>
            <a:ext cx="9144000" cy="4571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1" r:id="rId1"/>
    <p:sldLayoutId id="2147483714" r:id="rId2"/>
    <p:sldLayoutId id="2147483715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5" Type="http://schemas.openxmlformats.org/officeDocument/2006/relationships/image" Target="../media/image4.svg"/><Relationship Id="rId10" Type="http://schemas.openxmlformats.org/officeDocument/2006/relationships/image" Target="../media/image8.png"/><Relationship Id="rId4" Type="http://schemas.openxmlformats.org/officeDocument/2006/relationships/image" Target="../media/image3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opilotstudio.microsoft.com/environments/Default-ad06ef22-d6dc-4a55-b4c1-c3a158f5f147/bots/cr78b_copilot1tJ7uAB/canva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8131F8-7219-F30F-23C3-B1A523F13B4D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50512D5-A288-DE64-5FE5-FAA83B724C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63" r="11363"/>
          <a:stretch/>
        </p:blipFill>
        <p:spPr>
          <a:xfrm>
            <a:off x="3277989" y="-11911"/>
            <a:ext cx="5896498" cy="3941588"/>
          </a:xfrm>
          <a:prstGeom prst="rect">
            <a:avLst/>
          </a:prstGeom>
        </p:spPr>
      </p:pic>
      <p:grpSp>
        <p:nvGrpSpPr>
          <p:cNvPr id="9" name="Group 6">
            <a:extLst>
              <a:ext uri="{FF2B5EF4-FFF2-40B4-BE49-F238E27FC236}">
                <a16:creationId xmlns:a16="http://schemas.microsoft.com/office/drawing/2014/main" id="{ED09A716-F5FD-30AD-BA53-B5110DF9CEEE}"/>
              </a:ext>
            </a:extLst>
          </p:cNvPr>
          <p:cNvGrpSpPr/>
          <p:nvPr/>
        </p:nvGrpSpPr>
        <p:grpSpPr>
          <a:xfrm>
            <a:off x="552672" y="1325358"/>
            <a:ext cx="5401898" cy="2604322"/>
            <a:chOff x="-30164" y="-47625"/>
            <a:chExt cx="1548591" cy="761590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6A1020B1-E8B3-2D26-3C61-328C79130C0D}"/>
                </a:ext>
              </a:extLst>
            </p:cNvPr>
            <p:cNvSpPr/>
            <p:nvPr/>
          </p:nvSpPr>
          <p:spPr>
            <a:xfrm>
              <a:off x="-30164" y="0"/>
              <a:ext cx="1548591" cy="713965"/>
            </a:xfrm>
            <a:custGeom>
              <a:avLst/>
              <a:gdLst/>
              <a:ahLst/>
              <a:cxnLst/>
              <a:rect l="l" t="t" r="r" b="b"/>
              <a:pathLst>
                <a:path w="1223699" h="713965">
                  <a:moveTo>
                    <a:pt x="0" y="0"/>
                  </a:moveTo>
                  <a:lnTo>
                    <a:pt x="1223699" y="0"/>
                  </a:lnTo>
                  <a:lnTo>
                    <a:pt x="1223699" y="713965"/>
                  </a:lnTo>
                  <a:lnTo>
                    <a:pt x="0" y="71396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8">
              <a:extLst>
                <a:ext uri="{FF2B5EF4-FFF2-40B4-BE49-F238E27FC236}">
                  <a16:creationId xmlns:a16="http://schemas.microsoft.com/office/drawing/2014/main" id="{2F1C3D6B-7CF9-2BD5-8B36-9878D3FBC36D}"/>
                </a:ext>
              </a:extLst>
            </p:cNvPr>
            <p:cNvSpPr txBox="1"/>
            <p:nvPr/>
          </p:nvSpPr>
          <p:spPr>
            <a:xfrm>
              <a:off x="0" y="-47625"/>
              <a:ext cx="1223699" cy="7615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39"/>
                </a:lnSpc>
              </a:pPr>
              <a:endParaRPr/>
            </a:p>
          </p:txBody>
        </p:sp>
      </p:grpSp>
      <p:grpSp>
        <p:nvGrpSpPr>
          <p:cNvPr id="12" name="Group 9">
            <a:extLst>
              <a:ext uri="{FF2B5EF4-FFF2-40B4-BE49-F238E27FC236}">
                <a16:creationId xmlns:a16="http://schemas.microsoft.com/office/drawing/2014/main" id="{AE32C22C-3FDB-2396-2943-AFA12977BDA2}"/>
              </a:ext>
            </a:extLst>
          </p:cNvPr>
          <p:cNvGrpSpPr/>
          <p:nvPr/>
        </p:nvGrpSpPr>
        <p:grpSpPr>
          <a:xfrm>
            <a:off x="793587" y="1098363"/>
            <a:ext cx="4820890" cy="773873"/>
            <a:chOff x="-117556" y="-72266"/>
            <a:chExt cx="1991689" cy="319716"/>
          </a:xfrm>
        </p:grpSpPr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DD5D5B45-D48F-CBC2-FAE6-3C32D4CA4A54}"/>
                </a:ext>
              </a:extLst>
            </p:cNvPr>
            <p:cNvSpPr/>
            <p:nvPr/>
          </p:nvSpPr>
          <p:spPr>
            <a:xfrm>
              <a:off x="-117556" y="-72266"/>
              <a:ext cx="1991689" cy="319716"/>
            </a:xfrm>
            <a:custGeom>
              <a:avLst/>
              <a:gdLst/>
              <a:ahLst/>
              <a:cxnLst/>
              <a:rect l="l" t="t" r="r" b="b"/>
              <a:pathLst>
                <a:path w="736235" h="178921">
                  <a:moveTo>
                    <a:pt x="0" y="0"/>
                  </a:moveTo>
                  <a:lnTo>
                    <a:pt x="736235" y="0"/>
                  </a:lnTo>
                  <a:lnTo>
                    <a:pt x="736235" y="178921"/>
                  </a:lnTo>
                  <a:lnTo>
                    <a:pt x="0" y="178921"/>
                  </a:lnTo>
                  <a:close/>
                </a:path>
              </a:pathLst>
            </a:custGeom>
            <a:solidFill>
              <a:srgbClr val="E8EC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D4602096-BB2A-D06A-F2F9-A1B85FB7B21D}"/>
                </a:ext>
              </a:extLst>
            </p:cNvPr>
            <p:cNvSpPr txBox="1"/>
            <p:nvPr/>
          </p:nvSpPr>
          <p:spPr>
            <a:xfrm>
              <a:off x="0" y="-66675"/>
              <a:ext cx="736235" cy="2455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50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Freeform 13">
            <a:extLst>
              <a:ext uri="{FF2B5EF4-FFF2-40B4-BE49-F238E27FC236}">
                <a16:creationId xmlns:a16="http://schemas.microsoft.com/office/drawing/2014/main" id="{E92715B5-E2D3-4776-93F0-B360B5A59553}"/>
              </a:ext>
            </a:extLst>
          </p:cNvPr>
          <p:cNvSpPr/>
          <p:nvPr/>
        </p:nvSpPr>
        <p:spPr>
          <a:xfrm>
            <a:off x="1783618" y="199"/>
            <a:ext cx="1032349" cy="451764"/>
          </a:xfrm>
          <a:custGeom>
            <a:avLst/>
            <a:gdLst/>
            <a:ahLst/>
            <a:cxnLst/>
            <a:rect l="l" t="t" r="r" b="b"/>
            <a:pathLst>
              <a:path w="2102123" h="919905">
                <a:moveTo>
                  <a:pt x="0" y="0"/>
                </a:moveTo>
                <a:lnTo>
                  <a:pt x="2102123" y="0"/>
                </a:lnTo>
                <a:lnTo>
                  <a:pt x="2102123" y="919905"/>
                </a:lnTo>
                <a:lnTo>
                  <a:pt x="0" y="919905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>
              <a:alphaModFix amt="32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 t="-106728" r="-6530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93B0532-3834-38EB-306B-BB126F538A06}"/>
              </a:ext>
            </a:extLst>
          </p:cNvPr>
          <p:cNvSpPr/>
          <p:nvPr/>
        </p:nvSpPr>
        <p:spPr>
          <a:xfrm>
            <a:off x="151647" y="93093"/>
            <a:ext cx="770970" cy="773872"/>
          </a:xfrm>
          <a:custGeom>
            <a:avLst/>
            <a:gdLst/>
            <a:ahLst/>
            <a:cxnLst/>
            <a:rect l="l" t="t" r="r" b="b"/>
            <a:pathLst>
              <a:path w="1569889" h="1575798">
                <a:moveTo>
                  <a:pt x="0" y="0"/>
                </a:moveTo>
                <a:lnTo>
                  <a:pt x="1569889" y="0"/>
                </a:lnTo>
                <a:lnTo>
                  <a:pt x="1569889" y="1575798"/>
                </a:lnTo>
                <a:lnTo>
                  <a:pt x="0" y="1575798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520DAD-F8CC-E505-163A-1A40C1FCC226}"/>
              </a:ext>
            </a:extLst>
          </p:cNvPr>
          <p:cNvSpPr txBox="1"/>
          <p:nvPr/>
        </p:nvSpPr>
        <p:spPr>
          <a:xfrm>
            <a:off x="552673" y="2065201"/>
            <a:ext cx="6059790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fornian FB" panose="0207040306080B030204" pitchFamily="18" charset="0"/>
                <a:ea typeface="Georgia" pitchFamily="34" charset="-122"/>
                <a:cs typeface="Georgia" pitchFamily="34" charset="-120"/>
              </a:rPr>
              <a:t>Smart Stock Market Analyst</a:t>
            </a:r>
            <a:endParaRPr lang="en-US" sz="2800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fornian FB" panose="0207040306080B030204" pitchFamily="18" charset="0"/>
            </a:endParaRPr>
          </a:p>
          <a:p>
            <a:r>
              <a:rPr lang="en-US" sz="1100" b="1" dirty="0">
                <a:solidFill>
                  <a:schemeClr val="tx1"/>
                </a:solidFill>
                <a:latin typeface="Ink Free" panose="03080402000500000000" pitchFamily="66" charset="0"/>
              </a:rPr>
              <a:t>Powered by Generative AI  •  Gemini Pro  •  yFinance  •  Streamlit</a:t>
            </a:r>
          </a:p>
          <a:p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39" name="Picture 38" descr="A group of people looking at a computer&#10;&#10;Description automatically generated">
            <a:extLst>
              <a:ext uri="{FF2B5EF4-FFF2-40B4-BE49-F238E27FC236}">
                <a16:creationId xmlns:a16="http://schemas.microsoft.com/office/drawing/2014/main" id="{18A248EA-6D70-BC00-C66F-B374210692E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2443" r="30604" b="14243"/>
          <a:stretch/>
        </p:blipFill>
        <p:spPr>
          <a:xfrm>
            <a:off x="-8839" y="3956265"/>
            <a:ext cx="3569383" cy="1199146"/>
          </a:xfrm>
          <a:prstGeom prst="rect">
            <a:avLst/>
          </a:prstGeom>
        </p:spPr>
      </p:pic>
      <p:sp>
        <p:nvSpPr>
          <p:cNvPr id="40" name="Google Shape;70;p13">
            <a:extLst>
              <a:ext uri="{FF2B5EF4-FFF2-40B4-BE49-F238E27FC236}">
                <a16:creationId xmlns:a16="http://schemas.microsoft.com/office/drawing/2014/main" id="{574F20A4-E865-2423-673E-2D8E75BC50D9}"/>
              </a:ext>
            </a:extLst>
          </p:cNvPr>
          <p:cNvSpPr txBox="1"/>
          <p:nvPr/>
        </p:nvSpPr>
        <p:spPr>
          <a:xfrm>
            <a:off x="3720899" y="3929680"/>
            <a:ext cx="14569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Team Members :-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658D58-B26B-B263-E4E7-719E9EA907D6}"/>
              </a:ext>
            </a:extLst>
          </p:cNvPr>
          <p:cNvSpPr txBox="1"/>
          <p:nvPr/>
        </p:nvSpPr>
        <p:spPr>
          <a:xfrm>
            <a:off x="3591976" y="4156672"/>
            <a:ext cx="4832174" cy="140551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just">
              <a:spcAft>
                <a:spcPts val="200"/>
              </a:spcAft>
              <a:buClr>
                <a:schemeClr val="bg1"/>
              </a:buClr>
            </a:pPr>
            <a:r>
              <a:rPr lang="en-US" sz="1100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       Khusboo Kumari </a:t>
            </a:r>
          </a:p>
          <a:p>
            <a:pPr lvl="2" algn="just">
              <a:spcAft>
                <a:spcPts val="200"/>
              </a:spcAft>
              <a:buClr>
                <a:schemeClr val="bg1"/>
              </a:buClr>
            </a:pPr>
            <a:r>
              <a:rPr lang="en-US" sz="1100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                                              Kripita Gupta</a:t>
            </a:r>
          </a:p>
          <a:p>
            <a:pPr lvl="3" algn="just">
              <a:spcAft>
                <a:spcPts val="200"/>
              </a:spcAft>
              <a:buClr>
                <a:schemeClr val="bg1"/>
              </a:buClr>
            </a:pPr>
            <a:r>
              <a:rPr lang="en-US" sz="1100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                                                                                      Rupam Jaiswal</a:t>
            </a:r>
          </a:p>
          <a:p>
            <a:pPr algn="just">
              <a:spcAft>
                <a:spcPts val="200"/>
              </a:spcAft>
              <a:buClr>
                <a:schemeClr val="bg1"/>
              </a:buClr>
            </a:pPr>
            <a:r>
              <a:rPr lang="en-US" sz="1100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                        Puja Jaiswal</a:t>
            </a:r>
          </a:p>
          <a:p>
            <a:pPr algn="just">
              <a:spcAft>
                <a:spcPts val="200"/>
              </a:spcAft>
              <a:buClr>
                <a:schemeClr val="bg1"/>
              </a:buClr>
            </a:pPr>
            <a:r>
              <a:rPr lang="en-US" sz="1100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                                                                                                          Md Ali Sher </a:t>
            </a:r>
            <a:r>
              <a:rPr lang="en-US" sz="1100" dirty="0">
                <a:solidFill>
                  <a:schemeClr val="accent4">
                    <a:lumMod val="75000"/>
                  </a:schemeClr>
                </a:solidFill>
              </a:rPr>
              <a:t>	</a:t>
            </a:r>
          </a:p>
          <a:p>
            <a:pPr marL="228600" indent="-228600">
              <a:spcAft>
                <a:spcPts val="200"/>
              </a:spcAft>
              <a:buClr>
                <a:schemeClr val="bg1"/>
              </a:buClr>
              <a:buAutoNum type="arabicPeriod"/>
            </a:pPr>
            <a:endParaRPr lang="fi-FI" sz="1100" dirty="0">
              <a:solidFill>
                <a:schemeClr val="bg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42FDAC4-AE27-C374-87FA-1488045722F0}"/>
              </a:ext>
            </a:extLst>
          </p:cNvPr>
          <p:cNvGrpSpPr/>
          <p:nvPr/>
        </p:nvGrpSpPr>
        <p:grpSpPr>
          <a:xfrm>
            <a:off x="1402805" y="1159739"/>
            <a:ext cx="3608846" cy="660460"/>
            <a:chOff x="1516338" y="1159739"/>
            <a:chExt cx="3608846" cy="660460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7602FD7-B850-30FC-6F11-B26765319CF5}"/>
                </a:ext>
              </a:extLst>
            </p:cNvPr>
            <p:cNvCxnSpPr>
              <a:cxnSpLocks/>
            </p:cNvCxnSpPr>
            <p:nvPr/>
          </p:nvCxnSpPr>
          <p:spPr>
            <a:xfrm>
              <a:off x="3969406" y="1316016"/>
              <a:ext cx="0" cy="330321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9" name="Google Shape;110;p4" descr="A close up of a sign&#10;&#10;Description automatically generated">
              <a:extLst>
                <a:ext uri="{FF2B5EF4-FFF2-40B4-BE49-F238E27FC236}">
                  <a16:creationId xmlns:a16="http://schemas.microsoft.com/office/drawing/2014/main" id="{321F3B6E-D5C9-7BFA-7BDB-50FF890BB654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237873" y="1341787"/>
              <a:ext cx="887311" cy="2966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E97570DF-6F54-74D9-731F-612CF788DA56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1516338" y="1351451"/>
              <a:ext cx="1069048" cy="277034"/>
            </a:xfrm>
            <a:prstGeom prst="rect">
              <a:avLst/>
            </a:prstGeom>
            <a:ln w="0">
              <a:noFill/>
            </a:ln>
          </p:spPr>
        </p:pic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C2C4709E-5DC8-3087-4DFF-5FD21D1AA1BA}"/>
                </a:ext>
              </a:extLst>
            </p:cNvPr>
            <p:cNvCxnSpPr>
              <a:cxnSpLocks/>
            </p:cNvCxnSpPr>
            <p:nvPr/>
          </p:nvCxnSpPr>
          <p:spPr>
            <a:xfrm>
              <a:off x="2615873" y="1316016"/>
              <a:ext cx="0" cy="330321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52" name="Picture 51" descr="A logo with tools in a circle&#10;&#10;Description automatically generated">
              <a:extLst>
                <a:ext uri="{FF2B5EF4-FFF2-40B4-BE49-F238E27FC236}">
                  <a16:creationId xmlns:a16="http://schemas.microsoft.com/office/drawing/2014/main" id="{D5514759-EB9F-E36E-1FFF-E3E7F1E44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93928" y="1159739"/>
              <a:ext cx="658966" cy="660460"/>
            </a:xfrm>
            <a:prstGeom prst="rect">
              <a:avLst/>
            </a:prstGeom>
          </p:spPr>
        </p:pic>
      </p:grp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BB0368CE-8B80-49BB-887D-5B48304E3A2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0370" y="3937596"/>
            <a:ext cx="1280160" cy="12801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7AFAD5-578C-DC2D-F127-90FF4287354D}"/>
              </a:ext>
            </a:extLst>
          </p:cNvPr>
          <p:cNvSpPr txBox="1"/>
          <p:nvPr/>
        </p:nvSpPr>
        <p:spPr>
          <a:xfrm>
            <a:off x="143932" y="98467"/>
            <a:ext cx="44280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rgbClr val="213163"/>
                </a:solidFill>
              </a:rPr>
              <a:t>Problem Statement</a:t>
            </a:r>
            <a:endParaRPr lang="en-IN" sz="1600" dirty="0">
              <a:solidFill>
                <a:srgbClr val="213163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2510F8-EE68-4DB7-5481-38EDBC28EBB2}"/>
              </a:ext>
            </a:extLst>
          </p:cNvPr>
          <p:cNvSpPr txBox="1"/>
          <p:nvPr/>
        </p:nvSpPr>
        <p:spPr>
          <a:xfrm>
            <a:off x="40654" y="526852"/>
            <a:ext cx="5406254" cy="430887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dirty="0"/>
              <a:t>1.The Problem: Information Overload</a:t>
            </a:r>
          </a:p>
          <a:p>
            <a:endParaRPr lang="en-US" b="1" dirty="0"/>
          </a:p>
          <a:p>
            <a:r>
              <a:rPr lang="en-US" sz="1200" b="1" dirty="0"/>
              <a:t>The Challenge:</a:t>
            </a:r>
            <a:r>
              <a:rPr lang="en-US" sz="1200" dirty="0"/>
              <a:t> Retail investors face thousands of complex financial news articles daily, leading to decisions based on market rumors.</a:t>
            </a:r>
          </a:p>
          <a:p>
            <a:endParaRPr lang="en-US" sz="1200" b="1" dirty="0"/>
          </a:p>
          <a:p>
            <a:r>
              <a:rPr lang="en-US" sz="1200" b="1" dirty="0"/>
              <a:t>The Impact:</a:t>
            </a:r>
            <a:r>
              <a:rPr lang="en-US" sz="1200" dirty="0"/>
              <a:t> Heavy jargon and lack of time create high financial risks for average investors.</a:t>
            </a:r>
          </a:p>
          <a:p>
            <a:endParaRPr lang="en-US" sz="1200" dirty="0"/>
          </a:p>
          <a:p>
            <a:r>
              <a:rPr lang="en-US" b="1" dirty="0"/>
              <a:t>2.The AI Solution (Gemini API)</a:t>
            </a:r>
          </a:p>
          <a:p>
            <a:r>
              <a:rPr lang="en-US" sz="1200" b="1" dirty="0"/>
              <a:t>Smart Summarization:</a:t>
            </a:r>
            <a:r>
              <a:rPr lang="en-US" sz="1200" dirty="0"/>
              <a:t> Condenses long financial reports into 2–3 key bullet points.</a:t>
            </a:r>
          </a:p>
          <a:p>
            <a:r>
              <a:rPr lang="en-US" sz="1200" b="1" dirty="0"/>
              <a:t>Sentiment Analysis:</a:t>
            </a:r>
            <a:r>
              <a:rPr lang="en-US" sz="1200" dirty="0"/>
              <a:t> Instantly labels market news as </a:t>
            </a:r>
            <a:r>
              <a:rPr lang="en-US" sz="1200" b="1" dirty="0"/>
              <a:t>Positive (Bullish)</a:t>
            </a:r>
            <a:r>
              <a:rPr lang="en-US" sz="1200" dirty="0"/>
              <a:t>, </a:t>
            </a:r>
            <a:r>
              <a:rPr lang="en-US" sz="1200" b="1" dirty="0"/>
              <a:t>Negative (Bearish)</a:t>
            </a:r>
            <a:r>
              <a:rPr lang="en-US" sz="1200" dirty="0"/>
              <a:t>, or </a:t>
            </a:r>
            <a:r>
              <a:rPr lang="en-US" sz="1200" b="1" dirty="0"/>
              <a:t>Neutral</a:t>
            </a:r>
            <a:r>
              <a:rPr lang="en-US" sz="1200" dirty="0"/>
              <a:t>.</a:t>
            </a:r>
          </a:p>
          <a:p>
            <a:r>
              <a:rPr lang="en-US" sz="1200" b="1" dirty="0"/>
              <a:t>Visual Dashboard:</a:t>
            </a:r>
            <a:r>
              <a:rPr lang="en-US" sz="1200" dirty="0"/>
              <a:t> Transforms raw data into interactive, real-time charts.</a:t>
            </a:r>
          </a:p>
          <a:p>
            <a:endParaRPr lang="en-US" b="1" dirty="0"/>
          </a:p>
          <a:p>
            <a:r>
              <a:rPr lang="en-US" b="1" dirty="0"/>
              <a:t>3.Expected Outcomes &amp; Deliverables</a:t>
            </a:r>
          </a:p>
          <a:p>
            <a:r>
              <a:rPr lang="en-US" sz="1200" dirty="0"/>
              <a:t>JSON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"web_app": "Interactive Streamlit Dashboard via Stock Ticker",</a:t>
            </a:r>
          </a:p>
          <a:p>
            <a:r>
              <a:rPr lang="en-US" sz="1200" dirty="0"/>
              <a:t>  "charts": "Real-time stock price visualization using Plotly",</a:t>
            </a:r>
          </a:p>
          <a:p>
            <a:r>
              <a:rPr lang="en-US" sz="1200" dirty="0"/>
              <a:t>  "ai_insights": "Simplified market news summaries in English/Hindi"</a:t>
            </a:r>
          </a:p>
          <a:p>
            <a:r>
              <a:rPr lang="en-US" sz="1200" dirty="0"/>
              <a:t>}</a:t>
            </a:r>
          </a:p>
        </p:txBody>
      </p:sp>
      <p:pic>
        <p:nvPicPr>
          <p:cNvPr id="7" name="Picture 6" descr="A cartoon of a person holding a book&#10;&#10;Description automatically generated">
            <a:extLst>
              <a:ext uri="{FF2B5EF4-FFF2-40B4-BE49-F238E27FC236}">
                <a16:creationId xmlns:a16="http://schemas.microsoft.com/office/drawing/2014/main" id="{27276879-51B0-342E-6B09-4EA7C9230A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1075"/>
          <a:stretch/>
        </p:blipFill>
        <p:spPr>
          <a:xfrm>
            <a:off x="5112433" y="1147011"/>
            <a:ext cx="2351445" cy="3521243"/>
          </a:xfrm>
          <a:prstGeom prst="rect">
            <a:avLst/>
          </a:prstGeom>
        </p:spPr>
      </p:pic>
      <p:pic>
        <p:nvPicPr>
          <p:cNvPr id="8" name="Picture 7" descr="A blue question mark on a black background&#10;&#10;Description automatically generated">
            <a:extLst>
              <a:ext uri="{FF2B5EF4-FFF2-40B4-BE49-F238E27FC236}">
                <a16:creationId xmlns:a16="http://schemas.microsoft.com/office/drawing/2014/main" id="{AEF795B9-59D0-E5F1-B10D-DC58713F54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258" y="2627897"/>
            <a:ext cx="2260934" cy="226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0435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4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7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9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9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0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0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1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1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1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1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2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2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2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23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4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4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5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5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5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5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6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6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6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6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7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1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8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8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8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87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9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9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9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0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0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03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1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1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1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1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1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9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2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2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2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3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3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3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D5078D-F8F7-912B-4E9C-BED71500ACC2}"/>
              </a:ext>
            </a:extLst>
          </p:cNvPr>
          <p:cNvSpPr txBox="1"/>
          <p:nvPr/>
        </p:nvSpPr>
        <p:spPr>
          <a:xfrm>
            <a:off x="131949" y="91152"/>
            <a:ext cx="44280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Solution</a:t>
            </a:r>
            <a:endParaRPr lang="en-IN" sz="1600" dirty="0">
              <a:solidFill>
                <a:srgbClr val="213163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0F2964-0D4F-F880-A09E-E7A62DA0D8AD}"/>
              </a:ext>
            </a:extLst>
          </p:cNvPr>
          <p:cNvGrpSpPr/>
          <p:nvPr/>
        </p:nvGrpSpPr>
        <p:grpSpPr>
          <a:xfrm>
            <a:off x="4957011" y="1136519"/>
            <a:ext cx="4296704" cy="3560273"/>
            <a:chOff x="4957011" y="1136519"/>
            <a:chExt cx="4296704" cy="356027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CBDDE1E-3117-B64C-BB4F-1DE4EAC4051A}"/>
                </a:ext>
              </a:extLst>
            </p:cNvPr>
            <p:cNvGrpSpPr/>
            <p:nvPr/>
          </p:nvGrpSpPr>
          <p:grpSpPr>
            <a:xfrm>
              <a:off x="5693442" y="1136519"/>
              <a:ext cx="3560273" cy="3560273"/>
              <a:chOff x="4955715" y="1142768"/>
              <a:chExt cx="3560273" cy="3560273"/>
            </a:xfrm>
          </p:grpSpPr>
          <p:pic>
            <p:nvPicPr>
              <p:cNvPr id="15" name="Graphic 2" descr="Building with solid fill">
                <a:extLst>
                  <a:ext uri="{FF2B5EF4-FFF2-40B4-BE49-F238E27FC236}">
                    <a16:creationId xmlns:a16="http://schemas.microsoft.com/office/drawing/2014/main" id="{EB410575-724F-E860-628D-9E31E8990C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955715" y="1142768"/>
                <a:ext cx="3560273" cy="3560273"/>
              </a:xfrm>
              <a:prstGeom prst="rect">
                <a:avLst/>
              </a:prstGeom>
            </p:spPr>
          </p:pic>
          <p:pic>
            <p:nvPicPr>
              <p:cNvPr id="16" name="Picture 15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FA96A03D-8AC6-DF53-33DC-7FEC5CC495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32037" y="400073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7" name="Picture 16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0C87976D-9ED4-94B4-E12D-0E81648990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74975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8" name="Picture 17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162C682B-F14F-E745-A95B-324697E9C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26171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19" name="Picture 18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B8208A31-28D7-AFA6-DB42-EB7415CD5B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89659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20" name="Picture 19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921D4573-E89C-F978-B60F-75ABAB7187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07588" y="3992712"/>
                <a:ext cx="463488" cy="463488"/>
              </a:xfrm>
              <a:prstGeom prst="rect">
                <a:avLst/>
              </a:prstGeom>
            </p:spPr>
          </p:pic>
          <p:pic>
            <p:nvPicPr>
              <p:cNvPr id="21" name="Picture 20" descr="A green leafy plant with black background&#10;&#10;Description automatically generated">
                <a:extLst>
                  <a:ext uri="{FF2B5EF4-FFF2-40B4-BE49-F238E27FC236}">
                    <a16:creationId xmlns:a16="http://schemas.microsoft.com/office/drawing/2014/main" id="{DD649A93-C91B-E486-EA5E-C080F29D68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19213" y="3992712"/>
                <a:ext cx="463488" cy="463488"/>
              </a:xfrm>
              <a:prstGeom prst="rect">
                <a:avLst/>
              </a:prstGeom>
            </p:spPr>
          </p:pic>
        </p:grp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60C6BA6-5F2D-8F9B-162A-E34B8A491099}"/>
                </a:ext>
              </a:extLst>
            </p:cNvPr>
            <p:cNvSpPr/>
            <p:nvPr/>
          </p:nvSpPr>
          <p:spPr>
            <a:xfrm>
              <a:off x="4957011" y="1389708"/>
              <a:ext cx="2274970" cy="227497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Google Shape;134;p23">
              <a:extLst>
                <a:ext uri="{FF2B5EF4-FFF2-40B4-BE49-F238E27FC236}">
                  <a16:creationId xmlns:a16="http://schemas.microsoft.com/office/drawing/2014/main" id="{3382BCA9-3D11-62CB-321B-240BFBF0E00A}"/>
                </a:ext>
              </a:extLst>
            </p:cNvPr>
            <p:cNvSpPr txBox="1"/>
            <p:nvPr/>
          </p:nvSpPr>
          <p:spPr>
            <a:xfrm>
              <a:off x="5156936" y="1429477"/>
              <a:ext cx="1875120" cy="2195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R="0" lvl="0" rtl="0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n-US" sz="13000" b="1" i="0" u="none" strike="noStrike" cap="none" dirty="0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rPr>
                <a:t>AI</a:t>
              </a:r>
            </a:p>
          </p:txBody>
        </p:sp>
      </p:grpSp>
      <p:sp>
        <p:nvSpPr>
          <p:cNvPr id="26" name="Google Shape;134;p23">
            <a:extLst>
              <a:ext uri="{FF2B5EF4-FFF2-40B4-BE49-F238E27FC236}">
                <a16:creationId xmlns:a16="http://schemas.microsoft.com/office/drawing/2014/main" id="{65A026A1-4157-D47A-7261-C367C2DC72CF}"/>
              </a:ext>
            </a:extLst>
          </p:cNvPr>
          <p:cNvSpPr txBox="1"/>
          <p:nvPr/>
        </p:nvSpPr>
        <p:spPr>
          <a:xfrm>
            <a:off x="15230" y="513661"/>
            <a:ext cx="4440051" cy="511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900" b="1" dirty="0"/>
              <a:t>Data Ingestion (Python):</a:t>
            </a:r>
            <a:r>
              <a:rPr lang="en-US" sz="900" dirty="0"/>
              <a:t> The system automatically fetches live market feeds and the latest financial news based on the user-entered stock ticker (e.g., TCS.NS).</a:t>
            </a:r>
          </a:p>
          <a:p>
            <a:r>
              <a:rPr lang="en-US" sz="900" b="1" dirty="0"/>
              <a:t>AI Engine (Google Gemini API):</a:t>
            </a:r>
            <a:r>
              <a:rPr lang="en-US" sz="900" dirty="0"/>
              <a:t> Processes heavy financial jargon and dense articles to generate simplified, easy-to-understand </a:t>
            </a:r>
            <a:r>
              <a:rPr lang="en-US" sz="900" b="1" dirty="0"/>
              <a:t>2–3 key bullet points</a:t>
            </a:r>
            <a:r>
              <a:rPr lang="en-US" sz="900" dirty="0"/>
              <a:t> (supporting English/Hindi).</a:t>
            </a:r>
          </a:p>
          <a:p>
            <a:r>
              <a:rPr lang="en-US" sz="900" b="1" dirty="0"/>
              <a:t>Automated Sentiment Analysis:</a:t>
            </a:r>
            <a:r>
              <a:rPr lang="en-US" sz="900" dirty="0"/>
              <a:t> Instantly categorizes the news impact as </a:t>
            </a:r>
            <a:r>
              <a:rPr lang="en-US" sz="900" b="1" dirty="0"/>
              <a:t>Positive (Bullish)</a:t>
            </a:r>
            <a:r>
              <a:rPr lang="en-US" sz="900" dirty="0"/>
              <a:t>, </a:t>
            </a:r>
            <a:r>
              <a:rPr lang="en-US" sz="900" b="1" dirty="0"/>
              <a:t>Negative (Bearish)</a:t>
            </a:r>
            <a:r>
              <a:rPr lang="en-US" sz="900" dirty="0"/>
              <a:t>, or </a:t>
            </a:r>
            <a:r>
              <a:rPr lang="en-US" sz="900" b="1" dirty="0"/>
              <a:t>Neutral</a:t>
            </a:r>
            <a:r>
              <a:rPr lang="en-US" sz="900" dirty="0"/>
              <a:t> to guide quick decision-making.</a:t>
            </a:r>
          </a:p>
          <a:p>
            <a:r>
              <a:rPr lang="en-US" sz="900" b="1" dirty="0"/>
              <a:t>UI Delivery (Streamlit &amp; Plotly):</a:t>
            </a:r>
            <a:r>
              <a:rPr lang="en-US" sz="900" dirty="0"/>
              <a:t> Renders a clean, interactive web dashboard combining real-time stock price </a:t>
            </a:r>
            <a:r>
              <a:rPr lang="en-US" sz="900" b="1" dirty="0"/>
              <a:t>Line Charts</a:t>
            </a:r>
            <a:r>
              <a:rPr lang="en-US" sz="900" dirty="0"/>
              <a:t> with precise AI insights side-by-side.</a:t>
            </a:r>
          </a:p>
          <a:p>
            <a:r>
              <a:rPr lang="en-US" sz="900" b="1" dirty="0"/>
              <a:t>🚀 Key Technical Value</a:t>
            </a:r>
          </a:p>
          <a:p>
            <a:r>
              <a:rPr lang="en-US" sz="900" b="1" dirty="0"/>
              <a:t>Jargon-Free Insights:</a:t>
            </a:r>
            <a:r>
              <a:rPr lang="en-US" sz="900" dirty="0"/>
              <a:t> Empowers retail investors by translating complex data into plain language.</a:t>
            </a:r>
          </a:p>
          <a:p>
            <a:r>
              <a:rPr lang="en-US" sz="900" b="1" dirty="0"/>
              <a:t>Time Efficiency:</a:t>
            </a:r>
            <a:r>
              <a:rPr lang="en-US" sz="900" dirty="0"/>
              <a:t> Eliminates the need to scan financial news 24/7 by delivering instant summaries.</a:t>
            </a:r>
          </a:p>
          <a:p>
            <a:r>
              <a:rPr lang="en-US" sz="900" b="1" dirty="0"/>
              <a:t>Rapid Deployment:</a:t>
            </a:r>
            <a:r>
              <a:rPr lang="en-US" sz="900" dirty="0"/>
              <a:t> Built on a lightweight, highly responsive tech stack optimized for fast prototyping.</a:t>
            </a:r>
          </a:p>
          <a:p>
            <a:r>
              <a:rPr lang="en-US" sz="900" b="1" dirty="0"/>
              <a:t>System Architecture (How It Works)</a:t>
            </a:r>
          </a:p>
          <a:p>
            <a:r>
              <a:rPr lang="en-US" sz="900" b="1" dirty="0"/>
              <a:t>Data Ingestion (Python):</a:t>
            </a:r>
            <a:r>
              <a:rPr lang="en-US" sz="900" dirty="0"/>
              <a:t> The system automatically fetches live market feeds and the latest financial news based on the user-entered stock ticker (e.g., TCS.NS).</a:t>
            </a:r>
          </a:p>
          <a:p>
            <a:r>
              <a:rPr lang="en-US" sz="900" b="1" dirty="0"/>
              <a:t>AI Engine (Google Gemini API):</a:t>
            </a:r>
            <a:r>
              <a:rPr lang="en-US" sz="900" dirty="0"/>
              <a:t> Processes heavy financial jargon and dense articles to generate simplified, easy-to-understand </a:t>
            </a:r>
            <a:r>
              <a:rPr lang="en-US" sz="900" b="1" dirty="0"/>
              <a:t>2–3 key bullet points</a:t>
            </a:r>
            <a:r>
              <a:rPr lang="en-US" sz="900" dirty="0"/>
              <a:t> (supporting English/Hindi).</a:t>
            </a:r>
          </a:p>
          <a:p>
            <a:r>
              <a:rPr lang="en-US" sz="900" b="1" dirty="0"/>
              <a:t>Automated Sentiment Analysis:</a:t>
            </a:r>
            <a:r>
              <a:rPr lang="en-US" sz="900" dirty="0"/>
              <a:t> Instantly categorizes the news impact as </a:t>
            </a:r>
            <a:r>
              <a:rPr lang="en-US" sz="900" b="1" dirty="0"/>
              <a:t>Positive (Bullish)</a:t>
            </a:r>
            <a:r>
              <a:rPr lang="en-US" sz="900" dirty="0"/>
              <a:t>, </a:t>
            </a:r>
            <a:r>
              <a:rPr lang="en-US" sz="900" b="1" dirty="0"/>
              <a:t>Negative (Bearish)</a:t>
            </a:r>
            <a:r>
              <a:rPr lang="en-US" sz="900" dirty="0"/>
              <a:t>, or </a:t>
            </a:r>
            <a:r>
              <a:rPr lang="en-US" sz="900" b="1" dirty="0"/>
              <a:t>Neutral</a:t>
            </a:r>
            <a:r>
              <a:rPr lang="en-US" sz="900" dirty="0"/>
              <a:t> to guide quick decision-making.</a:t>
            </a:r>
          </a:p>
          <a:p>
            <a:r>
              <a:rPr lang="en-US" sz="900" b="1" dirty="0"/>
              <a:t>UI Delivery (Streamlit &amp; Plotly):</a:t>
            </a:r>
            <a:r>
              <a:rPr lang="en-US" sz="900" dirty="0"/>
              <a:t> Renders a clean, interactive web dashboard combining real-time stock price </a:t>
            </a:r>
            <a:r>
              <a:rPr lang="en-US" sz="900" b="1" dirty="0"/>
              <a:t>Line Charts</a:t>
            </a:r>
            <a:r>
              <a:rPr lang="en-US" sz="900" dirty="0"/>
              <a:t> with precise AI insights side-by-side.</a:t>
            </a:r>
          </a:p>
          <a:p>
            <a:r>
              <a:rPr lang="en-US" sz="900" b="1" dirty="0"/>
              <a:t>🚀 Key Technical Value</a:t>
            </a:r>
          </a:p>
          <a:p>
            <a:r>
              <a:rPr lang="en-US" sz="900" b="1" dirty="0"/>
              <a:t>Jargon-Free Insights:</a:t>
            </a:r>
            <a:r>
              <a:rPr lang="en-US" sz="900" dirty="0"/>
              <a:t> Empowers retail investors by translating complex data into plain language.</a:t>
            </a:r>
          </a:p>
          <a:p>
            <a:r>
              <a:rPr lang="en-US" sz="900" b="1" dirty="0"/>
              <a:t>Time Efficiency:</a:t>
            </a:r>
            <a:r>
              <a:rPr lang="en-US" sz="900" dirty="0"/>
              <a:t> Eliminates the need to scan financial news 24/7 by delivering instant summaries.</a:t>
            </a:r>
          </a:p>
          <a:p>
            <a:r>
              <a:rPr lang="en-US" sz="900" b="1" dirty="0"/>
              <a:t>Rapid Deployment:</a:t>
            </a:r>
            <a:r>
              <a:rPr lang="en-US" sz="900" dirty="0"/>
              <a:t> Built on a lightweight, highly responsive tech stack optimized for fast prototyping.</a:t>
            </a:r>
          </a:p>
          <a:p>
            <a:pPr marL="173355" indent="-173355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191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2000"/>
                                        <p:tgtEl>
                                          <p:spTgt spid="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2000"/>
                                        <p:tgtEl>
                                          <p:spTgt spid="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2000"/>
                                        <p:tgtEl>
                                          <p:spTgt spid="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9" dur="2000"/>
                                        <p:tgtEl>
                                          <p:spTgt spid="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2" dur="2000"/>
                                        <p:tgtEl>
                                          <p:spTgt spid="2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8" dur="2000"/>
                                        <p:tgtEl>
                                          <p:spTgt spid="2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2000"/>
                                        <p:tgtEl>
                                          <p:spTgt spid="2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27;p22">
            <a:extLst>
              <a:ext uri="{FF2B5EF4-FFF2-40B4-BE49-F238E27FC236}">
                <a16:creationId xmlns:a16="http://schemas.microsoft.com/office/drawing/2014/main" id="{CC2ED9E3-05F2-5ECD-DD5B-3430C263D9B6}"/>
              </a:ext>
            </a:extLst>
          </p:cNvPr>
          <p:cNvSpPr txBox="1">
            <a:spLocks/>
          </p:cNvSpPr>
          <p:nvPr/>
        </p:nvSpPr>
        <p:spPr>
          <a:xfrm>
            <a:off x="139767" y="687300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r>
              <a:rPr lang="en-US" sz="1600" b="1">
                <a:solidFill>
                  <a:srgbClr val="002060"/>
                </a:solidFill>
              </a:rPr>
              <a:t>Project Demo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EF4296-6D6A-2195-AEDC-5739E9527820}"/>
              </a:ext>
            </a:extLst>
          </p:cNvPr>
          <p:cNvGrpSpPr/>
          <p:nvPr/>
        </p:nvGrpSpPr>
        <p:grpSpPr>
          <a:xfrm>
            <a:off x="1887211" y="1352550"/>
            <a:ext cx="5570366" cy="3524508"/>
            <a:chOff x="1246397" y="1292018"/>
            <a:chExt cx="5570366" cy="352450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8EF506-DE96-236C-46F0-224868672ADF}"/>
                </a:ext>
              </a:extLst>
            </p:cNvPr>
            <p:cNvSpPr/>
            <p:nvPr/>
          </p:nvSpPr>
          <p:spPr>
            <a:xfrm>
              <a:off x="3217787" y="1292018"/>
              <a:ext cx="2826661" cy="282666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hlinkClick r:id="rId3"/>
              <a:extLst>
                <a:ext uri="{FF2B5EF4-FFF2-40B4-BE49-F238E27FC236}">
                  <a16:creationId xmlns:a16="http://schemas.microsoft.com/office/drawing/2014/main" id="{DED40980-3081-6659-4392-177BDDF9F096}"/>
                </a:ext>
              </a:extLst>
            </p:cNvPr>
            <p:cNvSpPr/>
            <p:nvPr/>
          </p:nvSpPr>
          <p:spPr>
            <a:xfrm>
              <a:off x="1246397" y="2955642"/>
              <a:ext cx="5422232" cy="1860884"/>
            </a:xfrm>
            <a:prstGeom prst="roundRect">
              <a:avLst>
                <a:gd name="adj" fmla="val 14943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0A5BB1-3E0C-AD1B-4F66-76DA03418642}"/>
                </a:ext>
              </a:extLst>
            </p:cNvPr>
            <p:cNvSpPr txBox="1"/>
            <p:nvPr/>
          </p:nvSpPr>
          <p:spPr>
            <a:xfrm>
              <a:off x="2459326" y="2154265"/>
              <a:ext cx="4357437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000" b="1" i="0" u="none" strike="noStrike" cap="none" dirty="0">
                  <a:solidFill>
                    <a:schemeClr val="bg1"/>
                  </a:solidFill>
                  <a:latin typeface="Arial"/>
                  <a:ea typeface="Arial"/>
                  <a:cs typeface="Arial"/>
                  <a:sym typeface="Arial"/>
                </a:rPr>
                <a:t>Website link </a:t>
              </a:r>
              <a:endParaRPr lang="en-US" sz="30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Rectangle 2">
              <a:extLst>
                <a:ext uri="{FF2B5EF4-FFF2-40B4-BE49-F238E27FC236}">
                  <a16:creationId xmlns:a16="http://schemas.microsoft.com/office/drawing/2014/main" id="{18516467-7CBC-2FFE-993C-F7C080FA7F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6004" y="3716807"/>
              <a:ext cx="4348444" cy="338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058CC0-CC04-8036-24AE-51461F3C17DF}"/>
              </a:ext>
            </a:extLst>
          </p:cNvPr>
          <p:cNvGrpSpPr/>
          <p:nvPr/>
        </p:nvGrpSpPr>
        <p:grpSpPr>
          <a:xfrm>
            <a:off x="4400067" y="327321"/>
            <a:ext cx="1757585" cy="1815552"/>
            <a:chOff x="686159" y="633457"/>
            <a:chExt cx="2849880" cy="294387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401590A-7F69-1C2D-2A3C-3BD68F2C27B2}"/>
                </a:ext>
              </a:extLst>
            </p:cNvPr>
            <p:cNvSpPr/>
            <p:nvPr/>
          </p:nvSpPr>
          <p:spPr>
            <a:xfrm>
              <a:off x="790438" y="1492457"/>
              <a:ext cx="2613660" cy="14935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16" descr="A person on a computer screen&#10;&#10;Description automatically generated">
              <a:extLst>
                <a:ext uri="{FF2B5EF4-FFF2-40B4-BE49-F238E27FC236}">
                  <a16:creationId xmlns:a16="http://schemas.microsoft.com/office/drawing/2014/main" id="{AEFB9C29-B9A9-F09E-AF9C-106FEC826A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439" r="18038"/>
            <a:stretch/>
          </p:blipFill>
          <p:spPr>
            <a:xfrm>
              <a:off x="686159" y="633457"/>
              <a:ext cx="2849880" cy="2943873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8869DEC-3AC7-E164-AE02-550E3E885B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0539" y="3535880"/>
            <a:ext cx="4197350" cy="107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1305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group of people standing on a arrow&#10;&#10;Description automatically generated">
            <a:extLst>
              <a:ext uri="{FF2B5EF4-FFF2-40B4-BE49-F238E27FC236}">
                <a16:creationId xmlns:a16="http://schemas.microsoft.com/office/drawing/2014/main" id="{3AF0A26D-CA08-4444-AD3E-FF6B88FF9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488180" y="1021274"/>
            <a:ext cx="4655820" cy="3100952"/>
          </a:xfrm>
          <a:prstGeom prst="rect">
            <a:avLst/>
          </a:prstGeom>
        </p:spPr>
      </p:pic>
      <p:sp>
        <p:nvSpPr>
          <p:cNvPr id="4" name="Google Shape;127;p22">
            <a:extLst>
              <a:ext uri="{FF2B5EF4-FFF2-40B4-BE49-F238E27FC236}">
                <a16:creationId xmlns:a16="http://schemas.microsoft.com/office/drawing/2014/main" id="{8896CF32-2381-134F-850C-1B4E39261E20}"/>
              </a:ext>
            </a:extLst>
          </p:cNvPr>
          <p:cNvSpPr txBox="1">
            <a:spLocks/>
          </p:cNvSpPr>
          <p:nvPr/>
        </p:nvSpPr>
        <p:spPr>
          <a:xfrm>
            <a:off x="139767" y="687300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r>
              <a:rPr lang="en-US" sz="1600" b="1">
                <a:solidFill>
                  <a:srgbClr val="002060"/>
                </a:solidFill>
              </a:rPr>
              <a:t>Future Scope</a:t>
            </a:r>
          </a:p>
        </p:txBody>
      </p:sp>
      <p:sp>
        <p:nvSpPr>
          <p:cNvPr id="8" name="Google Shape;134;p23">
            <a:extLst>
              <a:ext uri="{FF2B5EF4-FFF2-40B4-BE49-F238E27FC236}">
                <a16:creationId xmlns:a16="http://schemas.microsoft.com/office/drawing/2014/main" id="{57335198-79A6-CAA5-2CC6-0BB009B8F43A}"/>
              </a:ext>
            </a:extLst>
          </p:cNvPr>
          <p:cNvSpPr txBox="1"/>
          <p:nvPr/>
        </p:nvSpPr>
        <p:spPr>
          <a:xfrm>
            <a:off x="189099" y="1295168"/>
            <a:ext cx="5171571" cy="3453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indent="0">
              <a:lnSpc>
                <a:spcPct val="130000"/>
              </a:lnSpc>
              <a:buNone/>
            </a:pPr>
            <a:endParaRPr lang="en-US" dirty="0">
              <a:solidFill>
                <a:srgbClr val="A8D5B5"/>
              </a:solidFill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A8D5B5"/>
                </a:solidFill>
              </a:rPr>
              <a:t>📈  </a:t>
            </a:r>
            <a:r>
              <a:rPr lang="en-US" dirty="0">
                <a:solidFill>
                  <a:schemeClr val="tx1"/>
                </a:solidFill>
              </a:rPr>
              <a:t>Technical Indicators: RSI, MACD, Bollinger Bands</a:t>
            </a:r>
          </a:p>
          <a:p>
            <a:pPr marL="0" indent="0">
              <a:lnSpc>
                <a:spcPct val="130000"/>
              </a:lnSpc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chemeClr val="tx1"/>
                </a:solidFill>
              </a:rPr>
              <a:t>🗂  Portfolio tracker for multiple stocks.</a:t>
            </a:r>
          </a:p>
          <a:p>
            <a:pPr marL="0" indent="0">
              <a:lnSpc>
                <a:spcPct val="130000"/>
              </a:lnSpc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chemeClr val="tx1"/>
                </a:solidFill>
              </a:rPr>
              <a:t>🔔 Price alert &amp; watchlist notifications.</a:t>
            </a:r>
          </a:p>
          <a:p>
            <a:pPr marL="0" indent="0">
              <a:lnSpc>
                <a:spcPct val="130000"/>
              </a:lnSpc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chemeClr val="tx1"/>
                </a:solidFill>
              </a:rPr>
              <a:t>☁️  Deploy on Streamlit Cloud (public access)</a:t>
            </a:r>
          </a:p>
          <a:p>
            <a:pPr>
              <a:lnSpc>
                <a:spcPct val="13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chemeClr val="tx1"/>
                </a:solidFill>
              </a:rPr>
              <a:t>📊  Historical sentiment trend visualization</a:t>
            </a:r>
          </a:p>
          <a:p>
            <a:pPr>
              <a:lnSpc>
                <a:spcPct val="130000"/>
              </a:lnSpc>
            </a:pPr>
            <a:endParaRPr lang="en-US" dirty="0"/>
          </a:p>
          <a:p>
            <a:pPr marL="0" indent="0">
              <a:lnSpc>
                <a:spcPct val="130000"/>
              </a:lnSpc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002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7;p22">
            <a:extLst>
              <a:ext uri="{FF2B5EF4-FFF2-40B4-BE49-F238E27FC236}">
                <a16:creationId xmlns:a16="http://schemas.microsoft.com/office/drawing/2014/main" id="{2CBB2190-2983-5B07-C14F-C0C1B82BC484}"/>
              </a:ext>
            </a:extLst>
          </p:cNvPr>
          <p:cNvSpPr txBox="1">
            <a:spLocks/>
          </p:cNvSpPr>
          <p:nvPr/>
        </p:nvSpPr>
        <p:spPr>
          <a:xfrm>
            <a:off x="184217" y="603609"/>
            <a:ext cx="85206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r>
              <a:rPr lang="en-US" sz="1600" b="1" dirty="0">
                <a:solidFill>
                  <a:srgbClr val="002060"/>
                </a:solidFill>
              </a:rPr>
              <a:t>Conclusion</a:t>
            </a:r>
          </a:p>
        </p:txBody>
      </p:sp>
      <p:sp>
        <p:nvSpPr>
          <p:cNvPr id="8" name="Google Shape;134;p23">
            <a:extLst>
              <a:ext uri="{FF2B5EF4-FFF2-40B4-BE49-F238E27FC236}">
                <a16:creationId xmlns:a16="http://schemas.microsoft.com/office/drawing/2014/main" id="{F656EEBA-FCC6-FE6F-EAF7-837658983D56}"/>
              </a:ext>
            </a:extLst>
          </p:cNvPr>
          <p:cNvSpPr txBox="1"/>
          <p:nvPr/>
        </p:nvSpPr>
        <p:spPr>
          <a:xfrm>
            <a:off x="793750" y="1326688"/>
            <a:ext cx="4411913" cy="35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Achieved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  <a:latin typeface="Georgia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1"/>
                </a:solidFill>
              </a:rPr>
              <a:t>Real-time stock data via </a:t>
            </a:r>
            <a:r>
              <a:rPr lang="en-US" dirty="0" err="1">
                <a:solidFill>
                  <a:schemeClr val="tx1"/>
                </a:solidFill>
              </a:rPr>
              <a:t>yFinance</a:t>
            </a:r>
            <a:r>
              <a:rPr lang="en-US" dirty="0">
                <a:solidFill>
                  <a:schemeClr val="tx1"/>
                </a:solidFill>
              </a:rPr>
              <a:t> API.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1"/>
                </a:solidFill>
              </a:rPr>
              <a:t>Interactive Plotly price action charts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1"/>
                </a:solidFill>
              </a:rPr>
              <a:t>Gemini AI — Bullish / Bearish classification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1"/>
                </a:solidFill>
              </a:rPr>
              <a:t>Clean Streamlit UI — no coding needed to use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1"/>
                </a:solidFill>
              </a:rPr>
              <a:t>Supports Indian (NSE/BSE) &amp; global stocks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9" name="Picture 8" descr="A person standing next to a clipboard with a checklist&#10;&#10;Description automatically generated">
            <a:extLst>
              <a:ext uri="{FF2B5EF4-FFF2-40B4-BE49-F238E27FC236}">
                <a16:creationId xmlns:a16="http://schemas.microsoft.com/office/drawing/2014/main" id="{E9417E3B-DDB5-FAE5-89DC-EBB8DF9142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552" r="12574"/>
          <a:stretch/>
        </p:blipFill>
        <p:spPr>
          <a:xfrm>
            <a:off x="5205663" y="1100827"/>
            <a:ext cx="3930314" cy="374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7661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thank you card&#10;&#10;Description automatically generated">
            <a:extLst>
              <a:ext uri="{FF2B5EF4-FFF2-40B4-BE49-F238E27FC236}">
                <a16:creationId xmlns:a16="http://schemas.microsoft.com/office/drawing/2014/main" id="{A93903B1-E7A1-B168-DEC2-0635A4163F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710" t="21904" r="9339"/>
          <a:stretch/>
        </p:blipFill>
        <p:spPr>
          <a:xfrm>
            <a:off x="2062382" y="687712"/>
            <a:ext cx="5647194" cy="30644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950B63F-1D3E-19B7-9035-70098CF8FF29}"/>
              </a:ext>
            </a:extLst>
          </p:cNvPr>
          <p:cNvSpPr/>
          <p:nvPr/>
        </p:nvSpPr>
        <p:spPr>
          <a:xfrm>
            <a:off x="1576522" y="2923545"/>
            <a:ext cx="6564178" cy="3077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indent="0" algn="ctr">
              <a:buNone/>
            </a:pPr>
            <a:r>
              <a:rPr lang="en-US" b="1" i="1" dirty="0">
                <a:solidFill>
                  <a:srgbClr val="52B788"/>
                </a:solidFill>
                <a:latin typeface="Dubai" panose="020B0503030403030204" pitchFamily="34" charset="-78"/>
                <a:cs typeface="Dubai" panose="020B0503030403030204" pitchFamily="34" charset="-78"/>
              </a:rPr>
              <a:t>Smart Stock Market Analyst  •  Generative AI  Final Capstone Project</a:t>
            </a:r>
            <a:endParaRPr lang="en-US" b="1" i="1" dirty="0">
              <a:latin typeface="Dubai" panose="020B0503030403030204" pitchFamily="34" charset="-78"/>
              <a:cs typeface="Dubai" panose="020B0503030403030204" pitchFamily="34" charset="-78"/>
            </a:endParaRPr>
          </a:p>
        </p:txBody>
      </p:sp>
      <p:sp>
        <p:nvSpPr>
          <p:cNvPr id="4" name="Shape 9">
            <a:extLst>
              <a:ext uri="{FF2B5EF4-FFF2-40B4-BE49-F238E27FC236}">
                <a16:creationId xmlns:a16="http://schemas.microsoft.com/office/drawing/2014/main" id="{46115C51-3D6C-389F-66B7-CC13EF6027DE}"/>
              </a:ext>
            </a:extLst>
          </p:cNvPr>
          <p:cNvSpPr/>
          <p:nvPr/>
        </p:nvSpPr>
        <p:spPr>
          <a:xfrm>
            <a:off x="1495044" y="4407408"/>
            <a:ext cx="1143000" cy="274320"/>
          </a:xfrm>
          <a:prstGeom prst="roundRect">
            <a:avLst>
              <a:gd name="adj" fmla="val 33333"/>
            </a:avLst>
          </a:prstGeom>
          <a:solidFill>
            <a:srgbClr val="1A472A">
              <a:alpha val="70000"/>
            </a:srgbClr>
          </a:solidFill>
          <a:ln w="7620">
            <a:solidFill>
              <a:srgbClr val="52B788"/>
            </a:solidFill>
            <a:prstDash val="solid"/>
          </a:ln>
        </p:spPr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29DD4D1-67AF-8243-FBE2-5039A538FF08}"/>
              </a:ext>
            </a:extLst>
          </p:cNvPr>
          <p:cNvSpPr/>
          <p:nvPr/>
        </p:nvSpPr>
        <p:spPr>
          <a:xfrm>
            <a:off x="1407691" y="44074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2B788"/>
                </a:solidFill>
              </a:rPr>
              <a:t>Python</a:t>
            </a:r>
            <a:endParaRPr lang="en-US" sz="950" dirty="0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602CD935-7847-AAD4-C13C-781A94CE9A50}"/>
              </a:ext>
            </a:extLst>
          </p:cNvPr>
          <p:cNvSpPr/>
          <p:nvPr/>
        </p:nvSpPr>
        <p:spPr>
          <a:xfrm>
            <a:off x="2769108" y="4407408"/>
            <a:ext cx="1143000" cy="274320"/>
          </a:xfrm>
          <a:prstGeom prst="roundRect">
            <a:avLst>
              <a:gd name="adj" fmla="val 33333"/>
            </a:avLst>
          </a:prstGeom>
          <a:solidFill>
            <a:srgbClr val="1A472A">
              <a:alpha val="70000"/>
            </a:srgbClr>
          </a:solidFill>
          <a:ln w="7620">
            <a:solidFill>
              <a:srgbClr val="52B788"/>
            </a:solidFill>
            <a:prstDash val="solid"/>
          </a:ln>
        </p:spPr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DA6973EF-F288-7DA2-20E7-F312B159D9A3}"/>
              </a:ext>
            </a:extLst>
          </p:cNvPr>
          <p:cNvSpPr/>
          <p:nvPr/>
        </p:nvSpPr>
        <p:spPr>
          <a:xfrm>
            <a:off x="2747772" y="44074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2B788"/>
                </a:solidFill>
              </a:rPr>
              <a:t>Streamlit</a:t>
            </a:r>
            <a:endParaRPr lang="en-US" sz="950" dirty="0"/>
          </a:p>
        </p:txBody>
      </p:sp>
      <p:sp>
        <p:nvSpPr>
          <p:cNvPr id="8" name="Shape 13">
            <a:extLst>
              <a:ext uri="{FF2B5EF4-FFF2-40B4-BE49-F238E27FC236}">
                <a16:creationId xmlns:a16="http://schemas.microsoft.com/office/drawing/2014/main" id="{17EF16B5-3110-8ADA-DF6D-2BAAA2612C0A}"/>
              </a:ext>
            </a:extLst>
          </p:cNvPr>
          <p:cNvSpPr/>
          <p:nvPr/>
        </p:nvSpPr>
        <p:spPr>
          <a:xfrm>
            <a:off x="4055364" y="4407408"/>
            <a:ext cx="1143000" cy="274320"/>
          </a:xfrm>
          <a:prstGeom prst="roundRect">
            <a:avLst>
              <a:gd name="adj" fmla="val 33333"/>
            </a:avLst>
          </a:prstGeom>
          <a:solidFill>
            <a:srgbClr val="1A472A">
              <a:alpha val="70000"/>
            </a:srgbClr>
          </a:solidFill>
          <a:ln w="7620">
            <a:solidFill>
              <a:srgbClr val="52B788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86F79092-B9F2-905A-E192-FF57E89D91AC}"/>
              </a:ext>
            </a:extLst>
          </p:cNvPr>
          <p:cNvSpPr/>
          <p:nvPr/>
        </p:nvSpPr>
        <p:spPr>
          <a:xfrm>
            <a:off x="4000500" y="44074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2B788"/>
                </a:solidFill>
              </a:rPr>
              <a:t>yFinance</a:t>
            </a:r>
            <a:endParaRPr lang="en-US" sz="950" dirty="0"/>
          </a:p>
        </p:txBody>
      </p:sp>
      <p:sp>
        <p:nvSpPr>
          <p:cNvPr id="11" name="Shape 15">
            <a:extLst>
              <a:ext uri="{FF2B5EF4-FFF2-40B4-BE49-F238E27FC236}">
                <a16:creationId xmlns:a16="http://schemas.microsoft.com/office/drawing/2014/main" id="{C554F208-B6DB-4E1A-F387-28BDCE6A4003}"/>
              </a:ext>
            </a:extLst>
          </p:cNvPr>
          <p:cNvSpPr/>
          <p:nvPr/>
        </p:nvSpPr>
        <p:spPr>
          <a:xfrm>
            <a:off x="5362956" y="4407408"/>
            <a:ext cx="1143000" cy="274320"/>
          </a:xfrm>
          <a:prstGeom prst="roundRect">
            <a:avLst>
              <a:gd name="adj" fmla="val 33333"/>
            </a:avLst>
          </a:prstGeom>
          <a:solidFill>
            <a:srgbClr val="1A472A">
              <a:alpha val="70000"/>
            </a:srgbClr>
          </a:solidFill>
          <a:ln w="7620">
            <a:solidFill>
              <a:srgbClr val="52B788"/>
            </a:solidFill>
            <a:prstDash val="solid"/>
          </a:ln>
        </p:spPr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F49C2B15-470C-C04A-59B8-F6AB99D45630}"/>
              </a:ext>
            </a:extLst>
          </p:cNvPr>
          <p:cNvSpPr/>
          <p:nvPr/>
        </p:nvSpPr>
        <p:spPr>
          <a:xfrm>
            <a:off x="5253228" y="44074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2B788"/>
                </a:solidFill>
              </a:rPr>
              <a:t>Gemini AI</a:t>
            </a:r>
            <a:endParaRPr lang="en-US" sz="950" dirty="0"/>
          </a:p>
        </p:txBody>
      </p:sp>
      <p:sp>
        <p:nvSpPr>
          <p:cNvPr id="13" name="Shape 17">
            <a:extLst>
              <a:ext uri="{FF2B5EF4-FFF2-40B4-BE49-F238E27FC236}">
                <a16:creationId xmlns:a16="http://schemas.microsoft.com/office/drawing/2014/main" id="{F319C5BF-0D2E-64D8-69B0-5194F5044306}"/>
              </a:ext>
            </a:extLst>
          </p:cNvPr>
          <p:cNvSpPr/>
          <p:nvPr/>
        </p:nvSpPr>
        <p:spPr>
          <a:xfrm>
            <a:off x="6683756" y="4407408"/>
            <a:ext cx="1143000" cy="274320"/>
          </a:xfrm>
          <a:prstGeom prst="roundRect">
            <a:avLst>
              <a:gd name="adj" fmla="val 33333"/>
            </a:avLst>
          </a:prstGeom>
          <a:solidFill>
            <a:srgbClr val="1A472A">
              <a:alpha val="70000"/>
            </a:srgbClr>
          </a:solidFill>
          <a:ln w="7620">
            <a:solidFill>
              <a:srgbClr val="52B788"/>
            </a:solidFill>
            <a:prstDash val="solid"/>
          </a:ln>
        </p:spPr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6C156015-3B32-22F3-ABD8-B542512BF000}"/>
              </a:ext>
            </a:extLst>
          </p:cNvPr>
          <p:cNvSpPr/>
          <p:nvPr/>
        </p:nvSpPr>
        <p:spPr>
          <a:xfrm>
            <a:off x="6505956" y="440740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2B788"/>
                </a:solidFill>
              </a:rPr>
              <a:t>Plotly</a:t>
            </a:r>
            <a:endParaRPr lang="en-US" sz="9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067AB2-CF99-0F2F-0480-61419CCECB1C}"/>
              </a:ext>
            </a:extLst>
          </p:cNvPr>
          <p:cNvSpPr txBox="1"/>
          <p:nvPr/>
        </p:nvSpPr>
        <p:spPr>
          <a:xfrm>
            <a:off x="2340864" y="477371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8F7A"/>
                </a:solidFill>
                <a:latin typeface="Algerian" panose="04020705040A02060702" pitchFamily="82" charset="0"/>
              </a:rPr>
              <a:t>NSTI(W) PATNA •  2025 – 2026</a:t>
            </a:r>
            <a:endParaRPr lang="en-US" sz="1400" dirty="0"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365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</p:bld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Props1.xml><?xml version="1.0" encoding="utf-8"?>
<ds:datastoreItem xmlns:ds="http://schemas.openxmlformats.org/officeDocument/2006/customXml" ds:itemID="{7D9E5D5E-A365-4A49-8140-C8CC82A61608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706AB80-2608-47D7-8AC8-FA6BC8A9B2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559A34-456E-49A1-8157-9E3D18BFAD36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637</Words>
  <Application>Microsoft Office PowerPoint</Application>
  <PresentationFormat>On-screen Show (16:9)</PresentationFormat>
  <Paragraphs>84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7" baseType="lpstr">
      <vt:lpstr>Algerian</vt:lpstr>
      <vt:lpstr>Arial</vt:lpstr>
      <vt:lpstr>Californian FB</vt:lpstr>
      <vt:lpstr>Cooper Black</vt:lpstr>
      <vt:lpstr>Dubai</vt:lpstr>
      <vt:lpstr>Georgia</vt:lpstr>
      <vt:lpstr>Ink Free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 Moinudeen Syed</dc:creator>
  <cp:lastModifiedBy>Sagar Shakya</cp:lastModifiedBy>
  <cp:revision>17</cp:revision>
  <dcterms:modified xsi:type="dcterms:W3CDTF">2026-05-29T11:39:40Z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