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3"/>
  </p:notesMasterIdLst>
  <p:sldIdLst>
    <p:sldId id="292" r:id="rId5"/>
    <p:sldId id="1291" r:id="rId6"/>
    <p:sldId id="1292" r:id="rId7"/>
    <p:sldId id="1294" r:id="rId8"/>
    <p:sldId id="1297" r:id="rId9"/>
    <p:sldId id="1293" r:id="rId10"/>
    <p:sldId id="1296" r:id="rId11"/>
    <p:sldId id="1250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C73"/>
    <a:srgbClr val="E8ECF8"/>
    <a:srgbClr val="EF6331"/>
    <a:srgbClr val="223366"/>
    <a:srgbClr val="00717D"/>
    <a:srgbClr val="C9D2ED"/>
    <a:srgbClr val="851910"/>
    <a:srgbClr val="0000FF"/>
    <a:srgbClr val="FFCD8C"/>
    <a:srgbClr val="9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556316-1B04-6F9D-CF52-94D116DA4A80}" v="44" dt="2026-04-10T08:17:05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588"/>
        <p:guide pos="144"/>
        <p:guide orient="horz" pos="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2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BA23-5FDD-5D7E-F6FC-E4A6A7F5F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DBF0E-B651-D205-69BC-E38929484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EAFE9-FEB4-90FA-7604-E71268E9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57799B1-BD81-4C27-AC39-14752E0AA9C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42C0C-D784-7894-6E7A-A3163E7B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244B-37C0-9DC6-22CD-EB660918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46D0F184-99CC-4BD8-B5C7-8D3F468855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1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8B4DC1-1FB6-97A3-9F51-B9358500E0A8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B0C45-392E-206A-6503-A52CA087AB64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E902BD-DE18-50F7-2A75-FEB6FA54A56F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1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pilotstudio.microsoft.com/environments/Default-ad06ef22-d6dc-4a55-b4c1-c3a158f5f147/bots/cr78b_copilot1tJ7uAB/canva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48131F8-7219-F30F-23C3-B1A523F13B4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50512D5-A288-DE64-5FE5-FAA83B724C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5" b="1685"/>
          <a:stretch/>
        </p:blipFill>
        <p:spPr>
          <a:xfrm>
            <a:off x="3267706" y="-3992"/>
            <a:ext cx="5896498" cy="3941588"/>
          </a:xfrm>
          <a:prstGeom prst="rect">
            <a:avLst/>
          </a:prstGeom>
        </p:spPr>
      </p:pic>
      <p:grpSp>
        <p:nvGrpSpPr>
          <p:cNvPr id="9" name="Group 6">
            <a:extLst>
              <a:ext uri="{FF2B5EF4-FFF2-40B4-BE49-F238E27FC236}">
                <a16:creationId xmlns:a16="http://schemas.microsoft.com/office/drawing/2014/main" id="{ED09A716-F5FD-30AD-BA53-B5110DF9CEEE}"/>
              </a:ext>
            </a:extLst>
          </p:cNvPr>
          <p:cNvGrpSpPr/>
          <p:nvPr/>
        </p:nvGrpSpPr>
        <p:grpSpPr>
          <a:xfrm>
            <a:off x="552672" y="1325358"/>
            <a:ext cx="5401898" cy="2604322"/>
            <a:chOff x="-30164" y="-47625"/>
            <a:chExt cx="1548591" cy="76159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6A1020B1-E8B3-2D26-3C61-328C79130C0D}"/>
                </a:ext>
              </a:extLst>
            </p:cNvPr>
            <p:cNvSpPr/>
            <p:nvPr/>
          </p:nvSpPr>
          <p:spPr>
            <a:xfrm>
              <a:off x="-30164" y="0"/>
              <a:ext cx="1548591" cy="713965"/>
            </a:xfrm>
            <a:custGeom>
              <a:avLst/>
              <a:gdLst/>
              <a:ahLst/>
              <a:cxnLst/>
              <a:rect l="l" t="t" r="r" b="b"/>
              <a:pathLst>
                <a:path w="1223699" h="713965">
                  <a:moveTo>
                    <a:pt x="0" y="0"/>
                  </a:moveTo>
                  <a:lnTo>
                    <a:pt x="1223699" y="0"/>
                  </a:lnTo>
                  <a:lnTo>
                    <a:pt x="1223699" y="713965"/>
                  </a:lnTo>
                  <a:lnTo>
                    <a:pt x="0" y="7139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2F1C3D6B-7CF9-2BD5-8B36-9878D3FBC36D}"/>
                </a:ext>
              </a:extLst>
            </p:cNvPr>
            <p:cNvSpPr txBox="1"/>
            <p:nvPr/>
          </p:nvSpPr>
          <p:spPr>
            <a:xfrm>
              <a:off x="0" y="-47625"/>
              <a:ext cx="1223699" cy="761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AE32C22C-3FDB-2396-2943-AFA12977BDA2}"/>
              </a:ext>
            </a:extLst>
          </p:cNvPr>
          <p:cNvGrpSpPr/>
          <p:nvPr/>
        </p:nvGrpSpPr>
        <p:grpSpPr>
          <a:xfrm>
            <a:off x="793587" y="1098363"/>
            <a:ext cx="4820890" cy="773873"/>
            <a:chOff x="-117556" y="-72266"/>
            <a:chExt cx="1991689" cy="319716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D5D5B45-D48F-CBC2-FAE6-3C32D4CA4A54}"/>
                </a:ext>
              </a:extLst>
            </p:cNvPr>
            <p:cNvSpPr/>
            <p:nvPr/>
          </p:nvSpPr>
          <p:spPr>
            <a:xfrm>
              <a:off x="-117556" y="-72266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D4602096-BB2A-D06A-F2F9-A1B85FB7B21D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3">
            <a:extLst>
              <a:ext uri="{FF2B5EF4-FFF2-40B4-BE49-F238E27FC236}">
                <a16:creationId xmlns:a16="http://schemas.microsoft.com/office/drawing/2014/main" id="{E92715B5-E2D3-4776-93F0-B360B5A59553}"/>
              </a:ext>
            </a:extLst>
          </p:cNvPr>
          <p:cNvSpPr/>
          <p:nvPr/>
        </p:nvSpPr>
        <p:spPr>
          <a:xfrm>
            <a:off x="1783618" y="199"/>
            <a:ext cx="1032349" cy="451764"/>
          </a:xfrm>
          <a:custGeom>
            <a:avLst/>
            <a:gdLst/>
            <a:ahLst/>
            <a:cxnLst/>
            <a:rect l="l" t="t" r="r" b="b"/>
            <a:pathLst>
              <a:path w="2102123" h="919905">
                <a:moveTo>
                  <a:pt x="0" y="0"/>
                </a:moveTo>
                <a:lnTo>
                  <a:pt x="2102123" y="0"/>
                </a:lnTo>
                <a:lnTo>
                  <a:pt x="2102123" y="919905"/>
                </a:lnTo>
                <a:lnTo>
                  <a:pt x="0" y="91990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106728" r="-65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93B0532-3834-38EB-306B-BB126F538A06}"/>
              </a:ext>
            </a:extLst>
          </p:cNvPr>
          <p:cNvSpPr/>
          <p:nvPr/>
        </p:nvSpPr>
        <p:spPr>
          <a:xfrm>
            <a:off x="151647" y="93093"/>
            <a:ext cx="770970" cy="773872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520DAD-F8CC-E505-163A-1A40C1FCC226}"/>
              </a:ext>
            </a:extLst>
          </p:cNvPr>
          <p:cNvSpPr txBox="1"/>
          <p:nvPr/>
        </p:nvSpPr>
        <p:spPr>
          <a:xfrm>
            <a:off x="552673" y="2065201"/>
            <a:ext cx="60597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AI STOCK PRO INTELLIGENCE</a:t>
            </a:r>
          </a:p>
          <a:p>
            <a:r>
              <a:rPr lang="en-US" sz="1100" b="1" dirty="0">
                <a:solidFill>
                  <a:schemeClr val="tx1"/>
                </a:solidFill>
                <a:latin typeface="+mn-lt"/>
              </a:rPr>
              <a:t>     Powered by Generative AI  •  Gemini Pro  •  yFinance  •  Streamlit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39" name="Picture 38" descr="A group of people looking at a computer&#10;&#10;Description automatically generated">
            <a:extLst>
              <a:ext uri="{FF2B5EF4-FFF2-40B4-BE49-F238E27FC236}">
                <a16:creationId xmlns:a16="http://schemas.microsoft.com/office/drawing/2014/main" id="{18A248EA-6D70-BC00-C66F-B374210692E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2443" r="30604" b="14243"/>
          <a:stretch/>
        </p:blipFill>
        <p:spPr>
          <a:xfrm>
            <a:off x="-8839" y="3956265"/>
            <a:ext cx="3569383" cy="1199146"/>
          </a:xfrm>
          <a:prstGeom prst="rect">
            <a:avLst/>
          </a:prstGeom>
        </p:spPr>
      </p:pic>
      <p:sp>
        <p:nvSpPr>
          <p:cNvPr id="40" name="Google Shape;70;p13">
            <a:extLst>
              <a:ext uri="{FF2B5EF4-FFF2-40B4-BE49-F238E27FC236}">
                <a16:creationId xmlns:a16="http://schemas.microsoft.com/office/drawing/2014/main" id="{574F20A4-E865-2423-673E-2D8E75BC50D9}"/>
              </a:ext>
            </a:extLst>
          </p:cNvPr>
          <p:cNvSpPr txBox="1"/>
          <p:nvPr/>
        </p:nvSpPr>
        <p:spPr>
          <a:xfrm>
            <a:off x="3720899" y="3929680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Team Members :-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658D58-B26B-B263-E4E7-719E9EA907D6}"/>
              </a:ext>
            </a:extLst>
          </p:cNvPr>
          <p:cNvSpPr txBox="1"/>
          <p:nvPr/>
        </p:nvSpPr>
        <p:spPr>
          <a:xfrm>
            <a:off x="3591976" y="4156672"/>
            <a:ext cx="4832174" cy="12362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 algn="just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Khusboo Kumari </a:t>
            </a:r>
          </a:p>
          <a:p>
            <a:pPr marL="171450" lvl="2" indent="-171450" algn="just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Kripita Gupta</a:t>
            </a:r>
          </a:p>
          <a:p>
            <a:pPr marL="171450" lvl="3" indent="-171450" algn="just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Rupam Jaiswal</a:t>
            </a:r>
          </a:p>
          <a:p>
            <a:pPr marL="171450" indent="-171450" algn="just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Puja Jaiswal</a:t>
            </a:r>
          </a:p>
          <a:p>
            <a:pPr marL="171450" indent="-171450" algn="just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Md Ali Sher</a:t>
            </a:r>
            <a:r>
              <a:rPr lang="en-US" sz="11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</a:t>
            </a:r>
            <a:r>
              <a:rPr lang="en-US" sz="1100" dirty="0">
                <a:solidFill>
                  <a:schemeClr val="accent4">
                    <a:lumMod val="75000"/>
                  </a:schemeClr>
                </a:solidFill>
              </a:rPr>
              <a:t>	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endParaRPr lang="fi-FI" sz="1100" dirty="0">
              <a:solidFill>
                <a:schemeClr val="bg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42FDAC4-AE27-C374-87FA-1488045722F0}"/>
              </a:ext>
            </a:extLst>
          </p:cNvPr>
          <p:cNvGrpSpPr/>
          <p:nvPr/>
        </p:nvGrpSpPr>
        <p:grpSpPr>
          <a:xfrm>
            <a:off x="1402805" y="1159739"/>
            <a:ext cx="3608846" cy="660460"/>
            <a:chOff x="1516338" y="1159739"/>
            <a:chExt cx="3608846" cy="66046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&#10;&#10;Description automatically generated">
              <a:extLst>
                <a:ext uri="{FF2B5EF4-FFF2-40B4-BE49-F238E27FC236}">
                  <a16:creationId xmlns:a16="http://schemas.microsoft.com/office/drawing/2014/main" id="{321F3B6E-D5C9-7BFA-7BDB-50FF890BB65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97570DF-6F54-74D9-731F-612CF788DA56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&#10;&#10;Description automatically generated">
              <a:extLst>
                <a:ext uri="{FF2B5EF4-FFF2-40B4-BE49-F238E27FC236}">
                  <a16:creationId xmlns:a16="http://schemas.microsoft.com/office/drawing/2014/main" id="{D5514759-EB9F-E36E-1FFF-E3E7F1E44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143932" y="98467"/>
            <a:ext cx="4428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213163"/>
                </a:solidFill>
              </a:rPr>
              <a:t>Problem Statement</a:t>
            </a:r>
            <a:endParaRPr lang="en-IN" sz="1600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510F8-EE68-4DB7-5481-38EDBC28EBB2}"/>
              </a:ext>
            </a:extLst>
          </p:cNvPr>
          <p:cNvSpPr txBox="1"/>
          <p:nvPr/>
        </p:nvSpPr>
        <p:spPr>
          <a:xfrm>
            <a:off x="40654" y="526852"/>
            <a:ext cx="5406254" cy="46782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/>
              <a:t>1.The Problem: Information Overload</a:t>
            </a:r>
          </a:p>
          <a:p>
            <a:endParaRPr lang="en-US" b="1" dirty="0"/>
          </a:p>
          <a:p>
            <a:r>
              <a:rPr lang="en-US" sz="1200" b="1" dirty="0"/>
              <a:t>The Challenge:</a:t>
            </a:r>
            <a:r>
              <a:rPr lang="en-US" sz="1200" dirty="0"/>
              <a:t> Retail investors face thousands of complex financial news articles daily, leading to decisions based on market rumors.</a:t>
            </a:r>
          </a:p>
          <a:p>
            <a:endParaRPr lang="en-US" sz="1200" b="1" dirty="0"/>
          </a:p>
          <a:p>
            <a:r>
              <a:rPr lang="en-US" sz="1200" b="1" dirty="0"/>
              <a:t>The Impact:</a:t>
            </a:r>
            <a:r>
              <a:rPr lang="en-US" sz="1200" dirty="0"/>
              <a:t> Heavy jargon and lack of time create high financial risks for average investors.</a:t>
            </a:r>
          </a:p>
          <a:p>
            <a:endParaRPr lang="en-US" sz="1200" dirty="0"/>
          </a:p>
          <a:p>
            <a:r>
              <a:rPr lang="en-US" b="1" dirty="0"/>
              <a:t>2.The AI Solution (Gemini API)</a:t>
            </a:r>
          </a:p>
          <a:p>
            <a:r>
              <a:rPr lang="en-US" sz="1200" b="1" dirty="0"/>
              <a:t>Smart Summarization:</a:t>
            </a:r>
            <a:r>
              <a:rPr lang="en-US" sz="1200" dirty="0"/>
              <a:t> Condenses long financial reports into 2–3 key bullet points.</a:t>
            </a:r>
          </a:p>
          <a:p>
            <a:endParaRPr lang="en-US" sz="1200" dirty="0"/>
          </a:p>
          <a:p>
            <a:r>
              <a:rPr lang="en-US" sz="1200" b="1" dirty="0"/>
              <a:t>Sentiment Analysis:</a:t>
            </a:r>
            <a:r>
              <a:rPr lang="en-US" sz="1200" dirty="0"/>
              <a:t> Instantly labels market news as </a:t>
            </a:r>
            <a:r>
              <a:rPr lang="en-US" sz="1200" b="1" dirty="0"/>
              <a:t>Positive (Bullish)</a:t>
            </a:r>
            <a:r>
              <a:rPr lang="en-US" sz="1200" dirty="0"/>
              <a:t>, </a:t>
            </a:r>
            <a:r>
              <a:rPr lang="en-US" sz="1200" b="1" dirty="0"/>
              <a:t>Negative (Bearish)</a:t>
            </a:r>
            <a:r>
              <a:rPr lang="en-US" sz="1200" dirty="0"/>
              <a:t>, or </a:t>
            </a:r>
            <a:r>
              <a:rPr lang="en-US" sz="1200" b="1" dirty="0"/>
              <a:t>Neutral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b="1" dirty="0"/>
              <a:t>Visual Dashboard:</a:t>
            </a:r>
            <a:r>
              <a:rPr lang="en-US" sz="1200" dirty="0"/>
              <a:t> Transforms raw data into interactive, real-time charts.</a:t>
            </a:r>
          </a:p>
          <a:p>
            <a:endParaRPr lang="en-US" b="1" dirty="0"/>
          </a:p>
          <a:p>
            <a:r>
              <a:rPr lang="en-US" b="1" dirty="0"/>
              <a:t>3.Expected Outcomes &amp; Deliverables</a:t>
            </a:r>
          </a:p>
          <a:p>
            <a:r>
              <a:rPr lang="en-US" sz="1200" dirty="0"/>
              <a:t>JSON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"web_app": "Interactive Streamlit Dashboard via Stock Ticker",</a:t>
            </a:r>
          </a:p>
          <a:p>
            <a:r>
              <a:rPr lang="en-US" sz="1200" dirty="0"/>
              <a:t>  "charts": "Real-time stock price visualization using Plotly",</a:t>
            </a:r>
          </a:p>
          <a:p>
            <a:r>
              <a:rPr lang="en-US" sz="1200" dirty="0"/>
              <a:t>  "ai_insights": "Simplified market news summaries in English/Hindi"</a:t>
            </a:r>
          </a:p>
          <a:p>
            <a:r>
              <a:rPr lang="en-US" sz="1200" dirty="0"/>
              <a:t>}</a:t>
            </a:r>
          </a:p>
        </p:txBody>
      </p:sp>
      <p:pic>
        <p:nvPicPr>
          <p:cNvPr id="7" name="Picture 6" descr="A cartoon of a person holding a book&#10;&#10;Description automatically generated">
            <a:extLst>
              <a:ext uri="{FF2B5EF4-FFF2-40B4-BE49-F238E27FC236}">
                <a16:creationId xmlns:a16="http://schemas.microsoft.com/office/drawing/2014/main" id="{27276879-51B0-342E-6B09-4EA7C9230A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075"/>
          <a:stretch/>
        </p:blipFill>
        <p:spPr>
          <a:xfrm>
            <a:off x="5112433" y="1147011"/>
            <a:ext cx="2351445" cy="3521243"/>
          </a:xfrm>
          <a:prstGeom prst="rect">
            <a:avLst/>
          </a:prstGeom>
        </p:spPr>
      </p:pic>
      <p:pic>
        <p:nvPicPr>
          <p:cNvPr id="8" name="Picture 7" descr="A blue question mark on a black background&#10;&#10;Description automatically generated">
            <a:extLst>
              <a:ext uri="{FF2B5EF4-FFF2-40B4-BE49-F238E27FC236}">
                <a16:creationId xmlns:a16="http://schemas.microsoft.com/office/drawing/2014/main" id="{AEF795B9-59D0-E5F1-B10D-DC58713F5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258" y="2627897"/>
            <a:ext cx="2260934" cy="226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5078D-F8F7-912B-4E9C-BED71500ACC2}"/>
              </a:ext>
            </a:extLst>
          </p:cNvPr>
          <p:cNvSpPr txBox="1"/>
          <p:nvPr/>
        </p:nvSpPr>
        <p:spPr>
          <a:xfrm>
            <a:off x="131949" y="91152"/>
            <a:ext cx="4428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lang="en-IN" sz="1600" dirty="0">
              <a:solidFill>
                <a:srgbClr val="213163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00F2964-0D4F-F880-A09E-E7A62DA0D8AD}"/>
              </a:ext>
            </a:extLst>
          </p:cNvPr>
          <p:cNvGrpSpPr/>
          <p:nvPr/>
        </p:nvGrpSpPr>
        <p:grpSpPr>
          <a:xfrm>
            <a:off x="4957011" y="1136519"/>
            <a:ext cx="4296704" cy="3560273"/>
            <a:chOff x="4957011" y="1136519"/>
            <a:chExt cx="4296704" cy="356027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BDDE1E-3117-B64C-BB4F-1DE4EAC4051A}"/>
                </a:ext>
              </a:extLst>
            </p:cNvPr>
            <p:cNvGrpSpPr/>
            <p:nvPr/>
          </p:nvGrpSpPr>
          <p:grpSpPr>
            <a:xfrm>
              <a:off x="5693442" y="1136519"/>
              <a:ext cx="3560273" cy="3560273"/>
              <a:chOff x="4955715" y="1142768"/>
              <a:chExt cx="3560273" cy="3560273"/>
            </a:xfrm>
          </p:grpSpPr>
          <p:pic>
            <p:nvPicPr>
              <p:cNvPr id="15" name="Graphic 2" descr="Building with solid fill">
                <a:extLst>
                  <a:ext uri="{FF2B5EF4-FFF2-40B4-BE49-F238E27FC236}">
                    <a16:creationId xmlns:a16="http://schemas.microsoft.com/office/drawing/2014/main" id="{EB410575-724F-E860-628D-9E31E8990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955715" y="1142768"/>
                <a:ext cx="3560273" cy="3560273"/>
              </a:xfrm>
              <a:prstGeom prst="rect">
                <a:avLst/>
              </a:prstGeom>
            </p:spPr>
          </p:pic>
          <p:pic>
            <p:nvPicPr>
              <p:cNvPr id="16" name="Picture 15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FA96A03D-8AC6-DF53-33DC-7FEC5CC495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2037" y="400073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7" name="Picture 16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0C87976D-9ED4-94B4-E12D-0E8164899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74975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8" name="Picture 17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162C682B-F14F-E745-A95B-324697E9C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6171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9" name="Picture 18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B8208A31-28D7-AFA6-DB42-EB7415CD5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9659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0" name="Picture 19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921D4573-E89C-F978-B60F-75ABAB718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7588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1" name="Picture 20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DD649A93-C91B-E486-EA5E-C080F29D6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9213" y="3992712"/>
                <a:ext cx="463488" cy="463488"/>
              </a:xfrm>
              <a:prstGeom prst="rect">
                <a:avLst/>
              </a:prstGeom>
            </p:spPr>
          </p:pic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60C6BA6-5F2D-8F9B-162A-E34B8A491099}"/>
                </a:ext>
              </a:extLst>
            </p:cNvPr>
            <p:cNvSpPr/>
            <p:nvPr/>
          </p:nvSpPr>
          <p:spPr>
            <a:xfrm>
              <a:off x="4957011" y="1389708"/>
              <a:ext cx="2274970" cy="22749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Google Shape;134;p23">
              <a:extLst>
                <a:ext uri="{FF2B5EF4-FFF2-40B4-BE49-F238E27FC236}">
                  <a16:creationId xmlns:a16="http://schemas.microsoft.com/office/drawing/2014/main" id="{3382BCA9-3D11-62CB-321B-240BFBF0E00A}"/>
                </a:ext>
              </a:extLst>
            </p:cNvPr>
            <p:cNvSpPr txBox="1"/>
            <p:nvPr/>
          </p:nvSpPr>
          <p:spPr>
            <a:xfrm>
              <a:off x="5156936" y="1429477"/>
              <a:ext cx="1875120" cy="2195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3000" b="1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AI</a:t>
              </a:r>
            </a:p>
          </p:txBody>
        </p:sp>
      </p:grpSp>
      <p:sp>
        <p:nvSpPr>
          <p:cNvPr id="26" name="Google Shape;134;p23">
            <a:extLst>
              <a:ext uri="{FF2B5EF4-FFF2-40B4-BE49-F238E27FC236}">
                <a16:creationId xmlns:a16="http://schemas.microsoft.com/office/drawing/2014/main" id="{65A026A1-4157-D47A-7261-C367C2DC72CF}"/>
              </a:ext>
            </a:extLst>
          </p:cNvPr>
          <p:cNvSpPr txBox="1"/>
          <p:nvPr/>
        </p:nvSpPr>
        <p:spPr>
          <a:xfrm>
            <a:off x="15230" y="513661"/>
            <a:ext cx="4440051" cy="456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US" sz="900" b="1" dirty="0"/>
          </a:p>
          <a:p>
            <a:r>
              <a:rPr lang="en-US" sz="900" b="1" dirty="0"/>
              <a:t>Data Ingestion (Python):</a:t>
            </a:r>
            <a:r>
              <a:rPr lang="en-US" sz="900" dirty="0"/>
              <a:t> The system automatically fetches live market feeds and the latest financial news based on the user-entered stock ticker (e.g., TCS.NS).</a:t>
            </a:r>
          </a:p>
          <a:p>
            <a:endParaRPr lang="en-US" sz="900" dirty="0"/>
          </a:p>
          <a:p>
            <a:r>
              <a:rPr lang="en-US" sz="900" b="1" dirty="0"/>
              <a:t>AI Engine (Google Gemini API):</a:t>
            </a:r>
            <a:r>
              <a:rPr lang="en-US" sz="900" dirty="0"/>
              <a:t> Processes heavy financial jargon and dense articles to generate simplified, easy-to-understand </a:t>
            </a:r>
            <a:r>
              <a:rPr lang="en-US" sz="900" b="1" dirty="0"/>
              <a:t>2–3 key bullet points</a:t>
            </a:r>
            <a:r>
              <a:rPr lang="en-US" sz="900" dirty="0"/>
              <a:t> (supporting English/Hindi).</a:t>
            </a:r>
          </a:p>
          <a:p>
            <a:endParaRPr lang="en-US" sz="900" dirty="0"/>
          </a:p>
          <a:p>
            <a:r>
              <a:rPr lang="en-US" sz="900" b="1" dirty="0"/>
              <a:t>Automated Sentiment Analysis:</a:t>
            </a:r>
            <a:r>
              <a:rPr lang="en-US" sz="900" dirty="0"/>
              <a:t> Instantly categorizes the news impact as </a:t>
            </a:r>
            <a:r>
              <a:rPr lang="en-US" sz="900" b="1" dirty="0"/>
              <a:t>Positive (Bullish)</a:t>
            </a:r>
            <a:r>
              <a:rPr lang="en-US" sz="900" dirty="0"/>
              <a:t>, </a:t>
            </a:r>
            <a:r>
              <a:rPr lang="en-US" sz="900" b="1" dirty="0"/>
              <a:t>Negative (Bearish)</a:t>
            </a:r>
            <a:r>
              <a:rPr lang="en-US" sz="900" dirty="0"/>
              <a:t>, or </a:t>
            </a:r>
            <a:r>
              <a:rPr lang="en-US" sz="900" b="1" dirty="0"/>
              <a:t>Neutral</a:t>
            </a:r>
            <a:r>
              <a:rPr lang="en-US" sz="900" dirty="0"/>
              <a:t> to guide quick decision-making.</a:t>
            </a:r>
          </a:p>
          <a:p>
            <a:endParaRPr lang="en-US" sz="900" b="1" dirty="0"/>
          </a:p>
          <a:p>
            <a:r>
              <a:rPr lang="en-US" sz="900" b="1" dirty="0"/>
              <a:t>UI Delivery (Streamlit &amp; Plotly):</a:t>
            </a:r>
            <a:r>
              <a:rPr lang="en-US" sz="900" dirty="0"/>
              <a:t> Renders a clean, interactive web dashboard combining real-time stock price </a:t>
            </a:r>
            <a:r>
              <a:rPr lang="en-US" sz="900" b="1" dirty="0"/>
              <a:t>Line Charts</a:t>
            </a:r>
            <a:r>
              <a:rPr lang="en-US" sz="900" dirty="0"/>
              <a:t> with precise AI insights side-by-side.</a:t>
            </a:r>
          </a:p>
          <a:p>
            <a:endParaRPr lang="en-US" sz="900" b="1" dirty="0"/>
          </a:p>
          <a:p>
            <a:r>
              <a:rPr lang="en-US" sz="900" b="1" dirty="0"/>
              <a:t>Data Ingestion (Python):</a:t>
            </a:r>
            <a:r>
              <a:rPr lang="en-US" sz="900" dirty="0"/>
              <a:t> Automatically fetches live market feeds and financial news based on user-entered stock tickers.</a:t>
            </a:r>
          </a:p>
          <a:p>
            <a:endParaRPr lang="en-US" sz="900" dirty="0"/>
          </a:p>
          <a:p>
            <a:r>
              <a:rPr lang="en-US" sz="900" b="1" dirty="0"/>
              <a:t>Automated Sentiment Analysis:</a:t>
            </a:r>
            <a:r>
              <a:rPr lang="en-US" sz="900" dirty="0"/>
              <a:t> Instantly categorizes news impact as </a:t>
            </a:r>
            <a:r>
              <a:rPr lang="en-US" sz="900" b="1" dirty="0"/>
              <a:t>Positive (Bullish)</a:t>
            </a:r>
            <a:r>
              <a:rPr lang="en-US" sz="900" dirty="0"/>
              <a:t>, </a:t>
            </a:r>
            <a:r>
              <a:rPr lang="en-US" sz="900" b="1" dirty="0"/>
              <a:t>Negative (Bearish)</a:t>
            </a:r>
            <a:r>
              <a:rPr lang="en-US" sz="900" dirty="0"/>
              <a:t>, or </a:t>
            </a:r>
            <a:r>
              <a:rPr lang="en-US" sz="900" b="1" dirty="0"/>
              <a:t>Neutral</a:t>
            </a:r>
            <a:r>
              <a:rPr lang="en-US" sz="900" dirty="0"/>
              <a:t>.</a:t>
            </a:r>
          </a:p>
          <a:p>
            <a:endParaRPr lang="en-US" sz="900" b="1" dirty="0"/>
          </a:p>
          <a:p>
            <a:r>
              <a:rPr lang="en-US" sz="900" b="1" dirty="0"/>
              <a:t>Key Technical Value</a:t>
            </a:r>
          </a:p>
          <a:p>
            <a:r>
              <a:rPr lang="en-US" sz="900" b="1" dirty="0"/>
              <a:t>Jargon-Free Insights:</a:t>
            </a:r>
            <a:r>
              <a:rPr lang="en-US" sz="900" dirty="0"/>
              <a:t> Translates complex financial data into plain, accessible language for retail investors.</a:t>
            </a:r>
          </a:p>
          <a:p>
            <a:endParaRPr lang="en-US" sz="900" dirty="0"/>
          </a:p>
          <a:p>
            <a:r>
              <a:rPr lang="en-US" sz="900" b="1" dirty="0"/>
              <a:t>Time Efficiency:</a:t>
            </a:r>
            <a:r>
              <a:rPr lang="en-US" sz="900" dirty="0"/>
              <a:t> Saves time by delivering instant summaries instead of requiring 24/7 news monitoring.</a:t>
            </a:r>
          </a:p>
          <a:p>
            <a:endParaRPr lang="en-US" sz="900" dirty="0"/>
          </a:p>
          <a:p>
            <a:r>
              <a:rPr lang="en-US" sz="900" b="1" dirty="0"/>
              <a:t>Rapid Deployment:</a:t>
            </a:r>
            <a:r>
              <a:rPr lang="en-US" sz="900" dirty="0"/>
              <a:t> Built on a lightweight, highly responsive tech stack optimized for fast prototyping.</a:t>
            </a:r>
          </a:p>
          <a:p>
            <a:pPr marL="173355" indent="-173355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191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;p22">
            <a:extLst>
              <a:ext uri="{FF2B5EF4-FFF2-40B4-BE49-F238E27FC236}">
                <a16:creationId xmlns:a16="http://schemas.microsoft.com/office/drawing/2014/main" id="{CC2ED9E3-05F2-5ECD-DD5B-3430C263D9B6}"/>
              </a:ext>
            </a:extLst>
          </p:cNvPr>
          <p:cNvSpPr txBox="1">
            <a:spLocks/>
          </p:cNvSpPr>
          <p:nvPr/>
        </p:nvSpPr>
        <p:spPr>
          <a:xfrm>
            <a:off x="204078" y="79942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1600" b="1" dirty="0">
                <a:solidFill>
                  <a:srgbClr val="002060"/>
                </a:solidFill>
              </a:rPr>
              <a:t>Project Demo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EF4296-6D6A-2195-AEDC-5739E9527820}"/>
              </a:ext>
            </a:extLst>
          </p:cNvPr>
          <p:cNvGrpSpPr/>
          <p:nvPr/>
        </p:nvGrpSpPr>
        <p:grpSpPr>
          <a:xfrm>
            <a:off x="1887211" y="1352550"/>
            <a:ext cx="5570366" cy="3524508"/>
            <a:chOff x="1246397" y="1292018"/>
            <a:chExt cx="5570366" cy="35245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A8EF506-DE96-236C-46F0-224868672ADF}"/>
                </a:ext>
              </a:extLst>
            </p:cNvPr>
            <p:cNvSpPr/>
            <p:nvPr/>
          </p:nvSpPr>
          <p:spPr>
            <a:xfrm>
              <a:off x="3217787" y="1292018"/>
              <a:ext cx="2826661" cy="282666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hlinkClick r:id="rId3"/>
              <a:extLst>
                <a:ext uri="{FF2B5EF4-FFF2-40B4-BE49-F238E27FC236}">
                  <a16:creationId xmlns:a16="http://schemas.microsoft.com/office/drawing/2014/main" id="{DED40980-3081-6659-4392-177BDDF9F096}"/>
                </a:ext>
              </a:extLst>
            </p:cNvPr>
            <p:cNvSpPr/>
            <p:nvPr/>
          </p:nvSpPr>
          <p:spPr>
            <a:xfrm>
              <a:off x="1246397" y="2955642"/>
              <a:ext cx="5422232" cy="1860884"/>
            </a:xfrm>
            <a:prstGeom prst="roundRect">
              <a:avLst>
                <a:gd name="adj" fmla="val 14943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0A5BB1-3E0C-AD1B-4F66-76DA03418642}"/>
                </a:ext>
              </a:extLst>
            </p:cNvPr>
            <p:cNvSpPr txBox="1"/>
            <p:nvPr/>
          </p:nvSpPr>
          <p:spPr>
            <a:xfrm>
              <a:off x="2459326" y="2154265"/>
              <a:ext cx="435743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Website link </a:t>
              </a:r>
              <a:endParaRPr lang="en-US" sz="30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18516467-7CBC-2FFE-993C-F7C080FA7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004" y="3716807"/>
              <a:ext cx="434844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058CC0-CC04-8036-24AE-51461F3C17DF}"/>
              </a:ext>
            </a:extLst>
          </p:cNvPr>
          <p:cNvGrpSpPr/>
          <p:nvPr/>
        </p:nvGrpSpPr>
        <p:grpSpPr>
          <a:xfrm>
            <a:off x="4400067" y="327321"/>
            <a:ext cx="1757585" cy="1815552"/>
            <a:chOff x="686159" y="633457"/>
            <a:chExt cx="2849880" cy="294387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01590A-7F69-1C2D-2A3C-3BD68F2C27B2}"/>
                </a:ext>
              </a:extLst>
            </p:cNvPr>
            <p:cNvSpPr/>
            <p:nvPr/>
          </p:nvSpPr>
          <p:spPr>
            <a:xfrm>
              <a:off x="790438" y="1492457"/>
              <a:ext cx="2613660" cy="1493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A person on a computer screen&#10;&#10;Description automatically generated">
              <a:extLst>
                <a:ext uri="{FF2B5EF4-FFF2-40B4-BE49-F238E27FC236}">
                  <a16:creationId xmlns:a16="http://schemas.microsoft.com/office/drawing/2014/main" id="{AEFB9C29-B9A9-F09E-AF9C-106FEC826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439" r="18038"/>
            <a:stretch/>
          </p:blipFill>
          <p:spPr>
            <a:xfrm>
              <a:off x="686159" y="633457"/>
              <a:ext cx="2849880" cy="2943873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D16D08D-D631-0BB7-65EF-CC5D3A6A43B9}"/>
              </a:ext>
            </a:extLst>
          </p:cNvPr>
          <p:cNvSpPr/>
          <p:nvPr/>
        </p:nvSpPr>
        <p:spPr>
          <a:xfrm>
            <a:off x="2238451" y="3599255"/>
            <a:ext cx="483534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https://final-capston-project-finance-generative-ai-kddkwfgmcs9synbfbb.streamlit.app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71305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27824B-B1F1-5F97-A9B5-55C08BBBBBF7}"/>
              </a:ext>
            </a:extLst>
          </p:cNvPr>
          <p:cNvSpPr txBox="1"/>
          <p:nvPr/>
        </p:nvSpPr>
        <p:spPr>
          <a:xfrm>
            <a:off x="179223" y="9848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Output </a:t>
            </a:r>
            <a:endParaRPr lang="en-IN" sz="1400" dirty="0">
              <a:solidFill>
                <a:srgbClr val="21316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2905D-F1E0-3DEE-0B83-0121036FF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5835" y="573122"/>
            <a:ext cx="7770649" cy="437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42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oup of people standing on a arrow&#10;&#10;Description automatically generated">
            <a:extLst>
              <a:ext uri="{FF2B5EF4-FFF2-40B4-BE49-F238E27FC236}">
                <a16:creationId xmlns:a16="http://schemas.microsoft.com/office/drawing/2014/main" id="{3AF0A26D-CA08-4444-AD3E-FF6B88FF9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488180" y="1021274"/>
            <a:ext cx="4655820" cy="3100952"/>
          </a:xfrm>
          <a:prstGeom prst="rect">
            <a:avLst/>
          </a:prstGeom>
        </p:spPr>
      </p:pic>
      <p:sp>
        <p:nvSpPr>
          <p:cNvPr id="4" name="Google Shape;127;p22">
            <a:extLst>
              <a:ext uri="{FF2B5EF4-FFF2-40B4-BE49-F238E27FC236}">
                <a16:creationId xmlns:a16="http://schemas.microsoft.com/office/drawing/2014/main" id="{8896CF32-2381-134F-850C-1B4E39261E20}"/>
              </a:ext>
            </a:extLst>
          </p:cNvPr>
          <p:cNvSpPr txBox="1">
            <a:spLocks/>
          </p:cNvSpPr>
          <p:nvPr/>
        </p:nvSpPr>
        <p:spPr>
          <a:xfrm>
            <a:off x="13976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Future Scope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57335198-79A6-CAA5-2CC6-0BB009B8F43A}"/>
              </a:ext>
            </a:extLst>
          </p:cNvPr>
          <p:cNvSpPr txBox="1"/>
          <p:nvPr/>
        </p:nvSpPr>
        <p:spPr>
          <a:xfrm>
            <a:off x="189099" y="1295168"/>
            <a:ext cx="5171571" cy="34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endParaRPr lang="en-US" dirty="0">
              <a:solidFill>
                <a:srgbClr val="A8D5B5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A8D5B5"/>
                </a:solidFill>
              </a:rPr>
              <a:t>📈  </a:t>
            </a:r>
            <a:r>
              <a:rPr lang="en-US" dirty="0">
                <a:solidFill>
                  <a:schemeClr val="tx1"/>
                </a:solidFill>
              </a:rPr>
              <a:t>Technical Indicators: RSI, MACD, Bollinger Bands</a:t>
            </a:r>
          </a:p>
          <a:p>
            <a:pPr marL="0" indent="0">
              <a:lnSpc>
                <a:spcPct val="13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</a:rPr>
              <a:t>🗂  Portfolio tracker for multiple stocks.</a:t>
            </a:r>
          </a:p>
          <a:p>
            <a:pPr marL="0" indent="0">
              <a:lnSpc>
                <a:spcPct val="13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chemeClr val="tx1"/>
                </a:solidFill>
              </a:rPr>
              <a:t>🔔 Price alert &amp; watchlist notifications.</a:t>
            </a:r>
          </a:p>
          <a:p>
            <a:pPr marL="0" indent="0">
              <a:lnSpc>
                <a:spcPct val="13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</a:rPr>
              <a:t>☁️  Deploy on Streamlit Cloud (public access)</a:t>
            </a: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</a:rPr>
              <a:t>📊  Historical sentiment trend visualization</a:t>
            </a:r>
          </a:p>
          <a:p>
            <a:pPr>
              <a:lnSpc>
                <a:spcPct val="130000"/>
              </a:lnSpc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00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22">
            <a:extLst>
              <a:ext uri="{FF2B5EF4-FFF2-40B4-BE49-F238E27FC236}">
                <a16:creationId xmlns:a16="http://schemas.microsoft.com/office/drawing/2014/main" id="{2CBB2190-2983-5B07-C14F-C0C1B82BC484}"/>
              </a:ext>
            </a:extLst>
          </p:cNvPr>
          <p:cNvSpPr txBox="1">
            <a:spLocks/>
          </p:cNvSpPr>
          <p:nvPr/>
        </p:nvSpPr>
        <p:spPr>
          <a:xfrm>
            <a:off x="184217" y="603609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1600"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F656EEBA-FCC6-FE6F-EAF7-837658983D56}"/>
              </a:ext>
            </a:extLst>
          </p:cNvPr>
          <p:cNvSpPr txBox="1"/>
          <p:nvPr/>
        </p:nvSpPr>
        <p:spPr>
          <a:xfrm>
            <a:off x="793750" y="1326688"/>
            <a:ext cx="4411913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Achieved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  <a:latin typeface="Georgi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Real-time stock data via yFinance API.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Interactive Plotly price action charts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Gemini AI — Bullish / Bearish classification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Clean Streamlit UI — no coding needed to use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Supports Indian (NSE/BSE) &amp; global stocks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A person standing next to a clipboard with a checklist&#10;&#10;Description automatically generated">
            <a:extLst>
              <a:ext uri="{FF2B5EF4-FFF2-40B4-BE49-F238E27FC236}">
                <a16:creationId xmlns:a16="http://schemas.microsoft.com/office/drawing/2014/main" id="{E9417E3B-DDB5-FAE5-89DC-EBB8DF9142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2" r="12574"/>
          <a:stretch/>
        </p:blipFill>
        <p:spPr>
          <a:xfrm>
            <a:off x="5205663" y="1100827"/>
            <a:ext cx="3930314" cy="374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66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thank you card&#10;&#10;Description automatically generated">
            <a:extLst>
              <a:ext uri="{FF2B5EF4-FFF2-40B4-BE49-F238E27FC236}">
                <a16:creationId xmlns:a16="http://schemas.microsoft.com/office/drawing/2014/main" id="{A93903B1-E7A1-B168-DEC2-0635A4163F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10" t="21904" r="9339"/>
          <a:stretch/>
        </p:blipFill>
        <p:spPr>
          <a:xfrm>
            <a:off x="1667361" y="1039507"/>
            <a:ext cx="5647194" cy="30644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50B63F-1D3E-19B7-9035-70098CF8FF29}"/>
              </a:ext>
            </a:extLst>
          </p:cNvPr>
          <p:cNvSpPr/>
          <p:nvPr/>
        </p:nvSpPr>
        <p:spPr>
          <a:xfrm>
            <a:off x="1576522" y="2923545"/>
            <a:ext cx="656417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800" b="1" dirty="0"/>
              <a:t>AI STOCK PRO INTELLIGENCE</a:t>
            </a:r>
          </a:p>
          <a:p>
            <a:pPr marL="0" indent="0" algn="ctr">
              <a:buNone/>
            </a:pPr>
            <a:r>
              <a:rPr lang="en-US" b="1" i="1" dirty="0">
                <a:solidFill>
                  <a:srgbClr val="52B78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Generative AI  Final Capstone Project</a:t>
            </a:r>
            <a:endParaRPr lang="en-US" b="1" i="1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46115C51-3D6C-389F-66B7-CC13EF6027DE}"/>
              </a:ext>
            </a:extLst>
          </p:cNvPr>
          <p:cNvSpPr/>
          <p:nvPr/>
        </p:nvSpPr>
        <p:spPr>
          <a:xfrm>
            <a:off x="1495044" y="4407408"/>
            <a:ext cx="1143000" cy="274320"/>
          </a:xfrm>
          <a:prstGeom prst="roundRect">
            <a:avLst>
              <a:gd name="adj" fmla="val 33333"/>
            </a:avLst>
          </a:prstGeom>
          <a:solidFill>
            <a:srgbClr val="1A472A">
              <a:alpha val="70000"/>
            </a:srgbClr>
          </a:solidFill>
          <a:ln w="762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29DD4D1-67AF-8243-FBE2-5039A538FF08}"/>
              </a:ext>
            </a:extLst>
          </p:cNvPr>
          <p:cNvSpPr/>
          <p:nvPr/>
        </p:nvSpPr>
        <p:spPr>
          <a:xfrm>
            <a:off x="1407691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B788"/>
                </a:solidFill>
              </a:rPr>
              <a:t>Python</a:t>
            </a:r>
            <a:endParaRPr lang="en-US" sz="950" dirty="0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602CD935-7847-AAD4-C13C-781A94CE9A50}"/>
              </a:ext>
            </a:extLst>
          </p:cNvPr>
          <p:cNvSpPr/>
          <p:nvPr/>
        </p:nvSpPr>
        <p:spPr>
          <a:xfrm>
            <a:off x="2769108" y="4407408"/>
            <a:ext cx="1143000" cy="274320"/>
          </a:xfrm>
          <a:prstGeom prst="roundRect">
            <a:avLst>
              <a:gd name="adj" fmla="val 33333"/>
            </a:avLst>
          </a:prstGeom>
          <a:solidFill>
            <a:srgbClr val="1A472A">
              <a:alpha val="70000"/>
            </a:srgbClr>
          </a:solidFill>
          <a:ln w="762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DA6973EF-F288-7DA2-20E7-F312B159D9A3}"/>
              </a:ext>
            </a:extLst>
          </p:cNvPr>
          <p:cNvSpPr/>
          <p:nvPr/>
        </p:nvSpPr>
        <p:spPr>
          <a:xfrm>
            <a:off x="2747772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B788"/>
                </a:solidFill>
              </a:rPr>
              <a:t>Streamlit</a:t>
            </a:r>
            <a:endParaRPr lang="en-US" sz="950" dirty="0"/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17EF16B5-3110-8ADA-DF6D-2BAAA2612C0A}"/>
              </a:ext>
            </a:extLst>
          </p:cNvPr>
          <p:cNvSpPr/>
          <p:nvPr/>
        </p:nvSpPr>
        <p:spPr>
          <a:xfrm>
            <a:off x="4055364" y="4407408"/>
            <a:ext cx="1143000" cy="274320"/>
          </a:xfrm>
          <a:prstGeom prst="roundRect">
            <a:avLst>
              <a:gd name="adj" fmla="val 33333"/>
            </a:avLst>
          </a:prstGeom>
          <a:solidFill>
            <a:srgbClr val="1A472A">
              <a:alpha val="70000"/>
            </a:srgbClr>
          </a:solidFill>
          <a:ln w="762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86F79092-B9F2-905A-E192-FF57E89D91AC}"/>
              </a:ext>
            </a:extLst>
          </p:cNvPr>
          <p:cNvSpPr/>
          <p:nvPr/>
        </p:nvSpPr>
        <p:spPr>
          <a:xfrm>
            <a:off x="400050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B788"/>
                </a:solidFill>
              </a:rPr>
              <a:t>yFinance</a:t>
            </a:r>
            <a:endParaRPr lang="en-US" sz="950" dirty="0"/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C554F208-B6DB-4E1A-F387-28BDCE6A4003}"/>
              </a:ext>
            </a:extLst>
          </p:cNvPr>
          <p:cNvSpPr/>
          <p:nvPr/>
        </p:nvSpPr>
        <p:spPr>
          <a:xfrm>
            <a:off x="5362956" y="4407408"/>
            <a:ext cx="1143000" cy="274320"/>
          </a:xfrm>
          <a:prstGeom prst="roundRect">
            <a:avLst>
              <a:gd name="adj" fmla="val 33333"/>
            </a:avLst>
          </a:prstGeom>
          <a:solidFill>
            <a:srgbClr val="1A472A">
              <a:alpha val="70000"/>
            </a:srgbClr>
          </a:solidFill>
          <a:ln w="762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F49C2B15-470C-C04A-59B8-F6AB99D45630}"/>
              </a:ext>
            </a:extLst>
          </p:cNvPr>
          <p:cNvSpPr/>
          <p:nvPr/>
        </p:nvSpPr>
        <p:spPr>
          <a:xfrm>
            <a:off x="5253228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B788"/>
                </a:solidFill>
              </a:rPr>
              <a:t>Gemini AI</a:t>
            </a:r>
            <a:endParaRPr lang="en-US" sz="950" dirty="0"/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F319C5BF-0D2E-64D8-69B0-5194F5044306}"/>
              </a:ext>
            </a:extLst>
          </p:cNvPr>
          <p:cNvSpPr/>
          <p:nvPr/>
        </p:nvSpPr>
        <p:spPr>
          <a:xfrm>
            <a:off x="6683756" y="4407408"/>
            <a:ext cx="1143000" cy="274320"/>
          </a:xfrm>
          <a:prstGeom prst="roundRect">
            <a:avLst>
              <a:gd name="adj" fmla="val 33333"/>
            </a:avLst>
          </a:prstGeom>
          <a:solidFill>
            <a:srgbClr val="1A472A">
              <a:alpha val="70000"/>
            </a:srgbClr>
          </a:solidFill>
          <a:ln w="762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6C156015-3B32-22F3-ABD8-B542512BF000}"/>
              </a:ext>
            </a:extLst>
          </p:cNvPr>
          <p:cNvSpPr/>
          <p:nvPr/>
        </p:nvSpPr>
        <p:spPr>
          <a:xfrm>
            <a:off x="6505956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B788"/>
                </a:solidFill>
              </a:rPr>
              <a:t>Plotly</a:t>
            </a:r>
            <a:endParaRPr lang="en-US" sz="9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067AB2-CF99-0F2F-0480-61419CCECB1C}"/>
              </a:ext>
            </a:extLst>
          </p:cNvPr>
          <p:cNvSpPr txBox="1"/>
          <p:nvPr/>
        </p:nvSpPr>
        <p:spPr>
          <a:xfrm>
            <a:off x="2340864" y="47737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F7A"/>
                </a:solidFill>
                <a:latin typeface="Algerian" panose="04020705040A02060702" pitchFamily="82" charset="0"/>
              </a:rPr>
              <a:t>NSTI(W) PATNA •  2025 – 2026</a:t>
            </a:r>
            <a:endParaRPr lang="en-US" sz="1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510</Words>
  <Application>Microsoft Office PowerPoint</Application>
  <PresentationFormat>On-screen Show (16:9)</PresentationFormat>
  <Paragraphs>91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Arial</vt:lpstr>
      <vt:lpstr>Cooper Black</vt:lpstr>
      <vt:lpstr>Dubai</vt:lpstr>
      <vt:lpstr>Georgia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Sagar Shakya</cp:lastModifiedBy>
  <cp:revision>29</cp:revision>
  <dcterms:modified xsi:type="dcterms:W3CDTF">2026-06-04T03:32:14Z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